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1"/>
  </p:sldMasterIdLst>
  <p:notesMasterIdLst>
    <p:notesMasterId r:id="rId40"/>
  </p:notesMasterIdLst>
  <p:sldIdLst>
    <p:sldId id="256" r:id="rId2"/>
    <p:sldId id="257" r:id="rId3"/>
    <p:sldId id="288" r:id="rId4"/>
    <p:sldId id="258" r:id="rId5"/>
    <p:sldId id="287" r:id="rId6"/>
    <p:sldId id="277" r:id="rId7"/>
    <p:sldId id="289" r:id="rId8"/>
    <p:sldId id="259" r:id="rId9"/>
    <p:sldId id="260" r:id="rId10"/>
    <p:sldId id="280" r:id="rId11"/>
    <p:sldId id="261" r:id="rId12"/>
    <p:sldId id="292" r:id="rId13"/>
    <p:sldId id="263" r:id="rId14"/>
    <p:sldId id="264" r:id="rId15"/>
    <p:sldId id="265" r:id="rId16"/>
    <p:sldId id="297" r:id="rId17"/>
    <p:sldId id="282" r:id="rId18"/>
    <p:sldId id="291" r:id="rId19"/>
    <p:sldId id="290" r:id="rId20"/>
    <p:sldId id="286" r:id="rId21"/>
    <p:sldId id="293" r:id="rId22"/>
    <p:sldId id="313" r:id="rId23"/>
    <p:sldId id="268" r:id="rId24"/>
    <p:sldId id="309" r:id="rId25"/>
    <p:sldId id="315" r:id="rId26"/>
    <p:sldId id="271" r:id="rId27"/>
    <p:sldId id="300" r:id="rId28"/>
    <p:sldId id="298" r:id="rId29"/>
    <p:sldId id="299" r:id="rId30"/>
    <p:sldId id="301" r:id="rId31"/>
    <p:sldId id="310" r:id="rId32"/>
    <p:sldId id="303" r:id="rId33"/>
    <p:sldId id="307" r:id="rId34"/>
    <p:sldId id="314" r:id="rId35"/>
    <p:sldId id="312" r:id="rId36"/>
    <p:sldId id="305" r:id="rId37"/>
    <p:sldId id="306" r:id="rId38"/>
    <p:sldId id="308" r:id="rId39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93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18AC-D11A-5741-5B99-9B41F35C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3865A-9AC7-E1CB-954E-22123A50D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EBE46-744B-82E8-9981-BF0C6E295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FC7AB-4F3C-04CF-D9F3-A64CB60B29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1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2936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1020-EE04-E127-D2CA-CD358CB3F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CF163-E7AC-F0E9-A4A2-2AABB57D2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B4611-03AE-8651-8E9E-266BF9D7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BFCB5-1C8C-FD4F-2323-DE2DF2E7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2EE62-322B-4D21-9A43-390BF8CF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26188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AA1F-97E9-2921-AA32-92D42F53E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91987-956B-4E9F-0015-9268A404E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2ED35-1D04-478C-2FE6-DB511AC6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5F467-D8CE-732B-BDC4-20737618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63E20-5F7A-E6FF-DEEB-1DED848C3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6668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BF751-3524-784C-74E7-DAE0923C3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F2515-9442-588B-EE84-8B4AE1F3B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A7DE7-039E-78AD-8CDA-2D0BCE396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A373C-0393-B1CF-886F-9BC71A42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D7A1D-3560-D37A-B55C-BA0B49B5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6339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C065-2FE5-A8CD-A717-AFD2F4148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F63E1-F840-7AB9-42D0-4942275AD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5A25C-0FD3-7909-8812-69591BFAD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F69B6-53C9-50DE-CAD3-EF3024437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0CA5B-87BE-69BC-7DB2-40D177C8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B849F-4BBC-ADC5-EB7C-D515E15E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9834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C45D-18F9-A17B-8733-E3FFDE71E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1BCFE-3A50-1984-EA17-7B730599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4B10F-8CD1-2667-3169-6711053B3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77318B-2545-2D99-9C1E-729D23B62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1A28A1-7D96-0FEF-FACC-FB64514C9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4205D-38BB-D252-CFE7-C3DDB2027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A808F-B93D-FFDD-E13C-47749CC9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3B872-94AF-EFE8-C06F-93DE6CD23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9833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DB2D-00B6-90DA-40EF-E580E642F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EB2A5-799F-8586-AE9D-2C8FE065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AD8DE-7042-A685-5D15-4B4AA9E00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37AEF-1CE6-6834-4A45-81CBC07B6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9326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54F4B8-DD56-C4DD-E858-2D2A14197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7A0D5-F1D6-63E9-9AD0-5A551039F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CD030-5BBA-887A-3841-53E25270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458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C65A8-0F9B-4C74-3D08-2E83DB42D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F0675-F8D9-72E0-39E9-EE54402CE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F0978-8039-9EBD-A424-62366F4FC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E2BEA-CDF9-14E1-44EC-6D4A857A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81C34-8660-0BD6-2394-7944CA2B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3D99B-EC52-E0D4-6544-F82DC987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5012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BEFD-C407-4C0F-287B-29EE26E3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4297B1-4754-A2C4-FD1D-2AD1C08120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603D5-57B1-3E5E-260B-645F6DC32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B608A-F09B-2691-6B53-BE302182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A6CE2-DCF4-07CF-9584-EE8AADB5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86A32-A554-B011-EA47-BA3FE5BA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5693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099B-32AD-1DF9-4E85-0244079B7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7A92B-85C9-3570-A52B-989001FDE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576BD-E2FC-58FD-05E7-AF61A562F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2C2FD-CF81-E96A-BAE4-B0838DCD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0EF7B-73E4-6CB3-714B-E734CC04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7068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55F31-2587-8E99-3BF0-EBDB64171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F0C37-209F-E7E4-5577-7842A3FC0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377B-F0BA-69AB-A8AD-B34813D3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C7EC2-D102-3993-2C4B-F57F20C8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5341C-88FF-073B-0DCD-146D0EFE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6633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67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13730-2EFE-6058-3057-B96405B2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203C8-0014-77B7-389E-0F0FCCE4F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7231C-4F5D-7095-D7D3-C2B068A350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AAE28-2D92-EDD3-C2B6-38E96E709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16858-8999-2B3C-57A3-6CD55B499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15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286000"/>
            <a:ext cx="3200400" cy="3200400"/>
          </a:xfrm>
          <a:prstGeom prst="ellipse">
            <a:avLst/>
          </a:prstGeom>
          <a:solidFill>
            <a:srgbClr val="0288D1">
              <a:alpha val="20000"/>
            </a:srgbClr>
          </a:solidFill>
          <a:ln w="12700">
            <a:solidFill>
              <a:srgbClr val="0288D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Ingestion and Query Pipeline in AWS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June 04,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Sudheer Cherukuri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434840"/>
            <a:ext cx="1143000" cy="41148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4434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43000" y="4434840"/>
            <a:ext cx="11430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4434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4434840"/>
            <a:ext cx="1143000" cy="41148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0" y="4434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4434840"/>
            <a:ext cx="11430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4434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4434840"/>
            <a:ext cx="1143000" cy="41148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4434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4434840"/>
            <a:ext cx="11430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0" y="4434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4434840"/>
            <a:ext cx="1143000" cy="41148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4434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4434840"/>
            <a:ext cx="1143000" cy="411480"/>
          </a:xfrm>
          <a:prstGeom prst="rect">
            <a:avLst/>
          </a:prstGeom>
          <a:solidFill>
            <a:srgbClr val="0F2044"/>
          </a:solidFill>
          <a:ln w="12700">
            <a:solidFill>
              <a:srgbClr val="1A2E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01000" y="4434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— Ingestion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044315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005840"/>
            <a:ext cx="10443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
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82059" y="1394460"/>
            <a:ext cx="47469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20384" y="1005840"/>
            <a:ext cx="1044315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0384" y="1005840"/>
            <a:ext cx="10443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📨
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3842" y="1394460"/>
            <a:ext cx="47469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12167" y="1005840"/>
            <a:ext cx="1044315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12167" y="1005840"/>
            <a:ext cx="10443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
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65626" y="1394460"/>
            <a:ext cx="47469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03951" y="1005840"/>
            <a:ext cx="1044315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03951" y="1005840"/>
            <a:ext cx="10443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
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57410" y="1394460"/>
            <a:ext cx="47469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95734" y="1005840"/>
            <a:ext cx="1044315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95734" y="1005840"/>
            <a:ext cx="10443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
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49193" y="1394460"/>
            <a:ext cx="47469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87518" y="1005840"/>
            <a:ext cx="1044315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87518" y="1005840"/>
            <a:ext cx="10443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
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40977" y="1394460"/>
            <a:ext cx="47469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79302" y="1005840"/>
            <a:ext cx="1044315" cy="7772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79302" y="1005840"/>
            <a:ext cx="10443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
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HyQ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32760" y="1394460"/>
            <a:ext cx="47469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71085" y="1005840"/>
            <a:ext cx="1044315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71085" y="1005840"/>
            <a:ext cx="10443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
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14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DynamoDB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2057400"/>
            <a:ext cx="2029968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2103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2359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DynamoDB GSI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87168" y="2057400"/>
            <a:ext cx="2029968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78608" y="2103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Bytes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78608" y="2359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%PDF, PK, D0CF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File type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0016" y="2057400"/>
            <a:ext cx="2029968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91456" y="2103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Params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91456" y="2359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MAX=448 tokens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OVERLAP=64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12864" y="2057400"/>
            <a:ext cx="2029968" cy="91440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04304" y="21031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04304" y="2359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→ OpenSearch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→ DynamoDB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4320" y="3200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Used: S3  ·  SQS  ·  Lambda  ·  DynamoDB  ·  OpenSearch  ·  Bedrock (Titan + Nova)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566160"/>
            <a:ext cx="859536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Production Pattern: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68880" y="361188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has a Dead Letter Queue (DLQ) — failed messages land here after 3 retries. This prevents data loss silently. SQS Visibility Timeout = 300s (must match Lambda timeout).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F6B"/>
          </a:solidFill>
          <a:ln w="12700">
            <a:solidFill>
              <a:srgbClr val="1B3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73152"/>
            <a:ext cx="530352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– Simple Storage Service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6675120" cy="3474720"/>
          </a:xfrm>
          <a:prstGeom prst="rect">
            <a:avLst/>
          </a:prstGeom>
          <a:solidFill>
            <a:srgbClr val="EBF2FA"/>
          </a:solidFill>
          <a:ln w="12700">
            <a:solidFill>
              <a:srgbClr val="C8DAF0"/>
            </a:solidFill>
            <a:prstDash val="solid"/>
          </a:ln>
          <a:effectLst>
            <a:outerShdw blurRad="76200" dist="25400" dir="8100000" algn="bl" rotWithShape="0">
              <a:srgbClr val="AAAA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960120"/>
            <a:ext cx="63093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a shared storage – like a network drive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or system with right permissions can read from it and upload files to it.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Case Jacket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already uses S3 to store legal documents — RAG pipeline does the same, storing uploaded PDFs here as the starting point.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durable – AWS guarantees the file won't be lost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has a unique path — bucket name + file name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smart — when a new file arrives, it automatically notifies other systems. No manual trigger needed.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0" y="868680"/>
            <a:ext cx="1737360" cy="3474720"/>
          </a:xfrm>
          <a:prstGeom prst="rect">
            <a:avLst/>
          </a:prstGeom>
          <a:solidFill>
            <a:srgbClr val="F0F6FF"/>
          </a:solidFill>
          <a:ln w="12700">
            <a:solidFill>
              <a:srgbClr val="C8DAF0"/>
            </a:solidFill>
            <a:prstDash val="solid"/>
          </a:ln>
          <a:effectLst>
            <a:outerShdw blurRad="63500" dist="25400" dir="8100000" algn="bl" rotWithShape="0">
              <a:srgbClr val="AAAAA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296912" y="1005840"/>
            <a:ext cx="1417320" cy="1417320"/>
          </a:xfrm>
          <a:prstGeom prst="ellipse">
            <a:avLst/>
          </a:prstGeom>
          <a:solidFill>
            <a:srgbClr val="1B5E91"/>
          </a:solidFill>
          <a:ln w="12700">
            <a:solidFill>
              <a:srgbClr val="1B5E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143000"/>
            <a:ext cx="1097280" cy="1097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24871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360920" y="2834640"/>
            <a:ext cx="1234440" cy="0"/>
          </a:xfrm>
          <a:prstGeom prst="line">
            <a:avLst/>
          </a:prstGeom>
          <a:noFill/>
          <a:ln w="15240">
            <a:solidFill>
              <a:srgbClr val="AACCEE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926080"/>
            <a:ext cx="1143000" cy="914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38770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Upload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57200" y="44805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Bucket: </a:t>
            </a: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rag-raw-911414006786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where uploaded PDFs land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Upload — How Files Enter the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192024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Console Upload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 &amp; drop files in AWS Console
• Great for demos and one-off uploads
• Instant visual feedback
• No CLI setup needed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206240" cy="192024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CLI / SDK (Production)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 err="1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s3 cp file.pdf s3://rag-raw-911414.../
</a:t>
            </a: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Used in CI/CD pipelines
• Can batch upload entire folders</a:t>
            </a:r>
          </a:p>
          <a:p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Pre-signed URLs – used in regulated industries like health care, legal, and finance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8595360" cy="1234440"/>
          </a:xfrm>
          <a:prstGeom prst="rect">
            <a:avLst/>
          </a:prstGeom>
          <a:solidFill>
            <a:srgbClr val="FFF3E0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9992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Production Approach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101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enterprise systems, uploads come from: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</a:t>
            </a: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document management system auto-syncs to S3)   </a:t>
            </a: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 </a:t>
            </a: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(nightly ETL drops thousands of PDFs)   </a:t>
            </a: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Portals </a:t>
            </a: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(intake forms that upload directly to S3 via pre-signed URLs)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Bucket:  rag-raw-911414006786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– Simple Queue Service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58200" cy="0"/>
          </a:xfrm>
          <a:prstGeom prst="line">
            <a:avLst/>
          </a:prstGeom>
          <a:noFill/>
          <a:ln w="27940">
            <a:solidFill>
              <a:srgbClr val="2E74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8686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62672" y="190195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Queue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47472" y="868680"/>
            <a:ext cx="7315200" cy="3246120"/>
          </a:xfrm>
          <a:prstGeom prst="rect">
            <a:avLst/>
          </a:prstGeom>
          <a:solidFill>
            <a:srgbClr val="DCE6F1"/>
          </a:solidFill>
          <a:ln w="12700">
            <a:solidFill>
              <a:srgbClr val="BDD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932688"/>
            <a:ext cx="6995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is a message queue — holds notification tickets until a processor picks them up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Upload triggers an event and creates a queue entry in SQS.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Queue Processor</a:t>
            </a: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picks up items one by one — Lambda does exactly this with SQS messages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</a:t>
            </a: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lands in S3</a:t>
            </a: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SQS receives a ticket — file name, bucket name, timestamp. Lambda picks it up immediately.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processing fails, ticket stays in queue and retries automatically — no silent failures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max retries, message moves to </a:t>
            </a: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Queue (DLQ)</a:t>
            </a: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inspect and replay (covered in detail on next slide)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47472" y="4187952"/>
            <a:ext cx="69037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" y="41879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Our Queue: </a:t>
            </a:r>
            <a:r>
              <a:rPr lang="en-US" sz="1250" b="1" dirty="0">
                <a:solidFill>
                  <a:srgbClr val="FFC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rag-ingestion-queue</a:t>
            </a: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– where S3 drops tickets on new PDF upload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E029-9F05-6076-BF69-CA17D328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25E7FF-22CA-48AD-AD8D-16D36EB48C11}"/>
              </a:ext>
            </a:extLst>
          </p:cNvPr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/>
              <a:t>Sample SQS Event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9AEE60-AC08-36D7-2CC5-59692B9BA850}"/>
              </a:ext>
            </a:extLst>
          </p:cNvPr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5B7045-D347-8226-B4FD-FAA9734AF816}"/>
              </a:ext>
            </a:extLst>
          </p:cNvPr>
          <p:cNvSpPr/>
          <p:nvPr/>
        </p:nvSpPr>
        <p:spPr>
          <a:xfrm>
            <a:off x="274320" y="758952"/>
            <a:ext cx="7439297" cy="3945367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000" dirty="0"/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"source": "SQS — rag-ingestion-queue",</a:t>
            </a:r>
          </a:p>
          <a:p>
            <a:r>
              <a:rPr lang="en-US" sz="2000" dirty="0"/>
              <a:t>  "event": "S3 Upload Detected",</a:t>
            </a:r>
          </a:p>
          <a:p>
            <a:r>
              <a:rPr lang="en-US" sz="2000" dirty="0"/>
              <a:t>  "bucket": "rag-raw-911414006786",</a:t>
            </a:r>
          </a:p>
          <a:p>
            <a:r>
              <a:rPr lang="en-US" sz="2000" dirty="0"/>
              <a:t>  "file": “CourtCase.docx",</a:t>
            </a:r>
          </a:p>
          <a:p>
            <a:r>
              <a:rPr lang="en-US" sz="2000" dirty="0"/>
              <a:t>  "</a:t>
            </a:r>
            <a:r>
              <a:rPr lang="en-US" sz="2000" dirty="0" err="1"/>
              <a:t>size_bytes</a:t>
            </a:r>
            <a:r>
              <a:rPr lang="en-US" sz="2000" dirty="0"/>
              <a:t>": 31626,</a:t>
            </a:r>
          </a:p>
          <a:p>
            <a:r>
              <a:rPr lang="en-US" sz="2000" dirty="0"/>
              <a:t>  "</a:t>
            </a:r>
            <a:r>
              <a:rPr lang="en-US" sz="2000" dirty="0" err="1"/>
              <a:t>size_readable</a:t>
            </a:r>
            <a:r>
              <a:rPr lang="en-US" sz="2000" dirty="0"/>
              <a:t>": "30.9 KB",</a:t>
            </a:r>
          </a:p>
          <a:p>
            <a:r>
              <a:rPr lang="en-US" sz="2000" dirty="0"/>
              <a:t>  "</a:t>
            </a:r>
            <a:r>
              <a:rPr lang="en-US" sz="2000" dirty="0" err="1"/>
              <a:t>event_time</a:t>
            </a:r>
            <a:r>
              <a:rPr lang="en-US" sz="2000" dirty="0"/>
              <a:t>": "2026-05-17T22:06:49.837Z"</a:t>
            </a:r>
          </a:p>
          <a:p>
            <a:r>
              <a:rPr lang="en-US" sz="2000" dirty="0"/>
              <a:t>}</a:t>
            </a:r>
            <a:endParaRPr lang="en-US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B512EF91-2215-26D6-01E9-7BC358BA5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868680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4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3035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8408" y="137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– Serverless Computing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804672"/>
            <a:ext cx="8412480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8412480" cy="3977640"/>
          </a:xfrm>
          <a:prstGeom prst="rect">
            <a:avLst/>
          </a:prstGeom>
          <a:solidFill>
            <a:srgbClr val="DCE6F1"/>
          </a:solidFill>
          <a:ln w="12700">
            <a:solidFill>
              <a:srgbClr val="BDD0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097280"/>
            <a:ext cx="256032" cy="475488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1097280"/>
            <a:ext cx="7744968" cy="475488"/>
          </a:xfrm>
          <a:prstGeom prst="rect">
            <a:avLst/>
          </a:prstGeom>
          <a:noFill/>
          <a:ln/>
        </p:spPr>
        <p:txBody>
          <a:bodyPr wrap="square" lIns="25400" tIns="0" rIns="5080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is a program that </a:t>
            </a: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when triggered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server to manage, no always-on process waiting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1645920"/>
            <a:ext cx="256032" cy="59436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1645920"/>
            <a:ext cx="7744968" cy="594360"/>
          </a:xfrm>
          <a:prstGeom prst="rect">
            <a:avLst/>
          </a:prstGeom>
          <a:noFill/>
          <a:ln/>
        </p:spPr>
        <p:txBody>
          <a:bodyPr wrap="square" lIns="25400" tIns="0" rIns="5080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Agent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background processing when invoked — Lambda does the same, but triggered by an SQS message instead of a Pega schedule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66928" y="2313432"/>
            <a:ext cx="256032" cy="475488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2313432"/>
            <a:ext cx="7744968" cy="475488"/>
          </a:xfrm>
          <a:prstGeom prst="rect">
            <a:avLst/>
          </a:prstGeom>
          <a:noFill/>
          <a:ln/>
        </p:spPr>
        <p:txBody>
          <a:bodyPr wrap="square" lIns="25400" tIns="0" rIns="5080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sits idle — the moment Lambda picks up the SQS ticket, it starts processing the PDF immediately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66928" y="2862072"/>
            <a:ext cx="256032" cy="475488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" y="2862072"/>
            <a:ext cx="7744968" cy="475488"/>
          </a:xfrm>
          <a:prstGeom prst="rect">
            <a:avLst/>
          </a:prstGeom>
          <a:noFill/>
          <a:ln/>
        </p:spPr>
        <p:txBody>
          <a:bodyPr wrap="square" lIns="25400" tIns="0" rIns="5080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runs only when needed and </a:t>
            </a: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when done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 pay only for the seconds it runs, not 24/7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66928" y="3410712"/>
            <a:ext cx="256032" cy="475488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22960" y="3410712"/>
            <a:ext cx="7744968" cy="475488"/>
          </a:xfrm>
          <a:prstGeom prst="rect">
            <a:avLst/>
          </a:prstGeom>
          <a:noFill/>
          <a:ln/>
        </p:spPr>
        <p:txBody>
          <a:bodyPr wrap="square" lIns="25400" tIns="0" rIns="5080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Lambda fails, SQS keeps the ticket and </a:t>
            </a: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automatically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same safety net as Pega’s retry mechanism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66928" y="3959352"/>
            <a:ext cx="256032" cy="475488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2960" y="3959352"/>
            <a:ext cx="7744968" cy="475488"/>
          </a:xfrm>
          <a:prstGeom prst="rect">
            <a:avLst/>
          </a:prstGeom>
          <a:noFill/>
          <a:ln/>
        </p:spPr>
        <p:txBody>
          <a:bodyPr wrap="square" lIns="25400" tIns="0" rIns="5080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Lambda: </a:t>
            </a: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rag-document-processor</a:t>
            </a: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picks up SQS tickets and runs the full ingestion pipeline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→ SQS — Why Not Trigger Lambda Directly?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46304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46504" y="1207008"/>
            <a:ext cx="24688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0" y="868680"/>
            <a:ext cx="1645920" cy="6858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868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66744" y="1207008"/>
            <a:ext cx="24688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31920" y="868680"/>
            <a:ext cx="1463040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0" y="868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04104" y="1207008"/>
            <a:ext cx="24688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0" y="868680"/>
            <a:ext cx="146304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0" y="868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41464" y="1207008"/>
            <a:ext cx="246888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06640" y="868680"/>
            <a:ext cx="146304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06640" y="8686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874520"/>
            <a:ext cx="4251960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19659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Automatic Retry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22860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Lambda fails, SQS redelivers the message automatically up to 3 times — no manual intervention.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874520"/>
            <a:ext cx="4251960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9659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Dead Letter Queue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failures, message goes to DLQ. Nothing is lost silently. You can inspect and replay.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425196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11480" y="3200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Rate Control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5204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acts as a buffer. If 100 files arrive at once, Lambda processes them at a safe rate — no throttling.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108960"/>
            <a:ext cx="425196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46320" y="3200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Decoupling –Separation of concerns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5204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doesn't know about Lambda. Swap Lambda for AWS Batch tomorrow — S3 doesn't change at all.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389120"/>
            <a:ext cx="1394460" cy="256032"/>
          </a:xfrm>
          <a:prstGeom prst="roundRect">
            <a:avLst>
              <a:gd name="adj" fmla="val 28571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389120"/>
            <a:ext cx="13944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 We Hit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0" y="43616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SQS Visibility Timeout = 30s  |  Lambda took ~35s  →  SQS thought Lambda failed  →  Redelivered  →  Duplicate processing!  Fix: set to 300s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Limits — When to Switch to AWS Batch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AWS Lambda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Max timeout: 15 minutes
✅  Max RAM memory: 10 GB</a:t>
            </a:r>
          </a:p>
          <a:p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Package size : 50 MB direct upload, </a:t>
            </a:r>
          </a:p>
          <a:p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250 MB through S3, </a:t>
            </a:r>
          </a:p>
          <a:p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10 GB through Container Image
✅  Great for: small–medium PDFs (&lt;100 pages)
✅  Scales instantly, pay-per-invocation
❌  Fails: 1,000-page PDF takes 20–30 min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4160520" cy="228600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AWS Batch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29844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timeout — runs as long as needed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Fully managed container (Docker)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Right-size CPU/RAM per job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Spot instances = 70–90% cost savings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Trade-off: cold start 1–2 min overhead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3291840"/>
            <a:ext cx="8595360" cy="1234440"/>
          </a:xfrm>
          <a:prstGeom prst="rect">
            <a:avLst/>
          </a:prstGeom>
          <a:solidFill>
            <a:srgbClr val="FFF3E0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Why AWS Batch over Step Functions?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</a:t>
            </a: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workflow steps but each step still runs inside Lambda — so the 15-min limit still applies per step.  </a:t>
            </a: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Batch </a:t>
            </a: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 containerized jobs without any time limit. For long-running CPU/GPU processing, Batch is the right tool. Step Functions can CALL Batch to get the best of both.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AWS Batch — Hybrid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1280160" cy="43891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12801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Upload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841248"/>
            <a:ext cx="1280160" cy="438912"/>
          </a:xfrm>
          <a:prstGeom prst="rect">
            <a:avLst/>
          </a:prstGeom>
          <a:solidFill>
            <a:srgbClr val="5B3F8C"/>
          </a:solidFill>
          <a:ln w="12700">
            <a:solidFill>
              <a:srgbClr val="5B3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83080" y="841248"/>
            <a:ext cx="12801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Queue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841248"/>
            <a:ext cx="1463040" cy="438912"/>
          </a:xfrm>
          <a:prstGeom prst="rect">
            <a:avLst/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841248"/>
            <a:ext cx="14630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Lambda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(checks size)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83480" y="841248"/>
            <a:ext cx="1417320" cy="43891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841248"/>
            <a:ext cx="14173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100 MB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29400" y="841248"/>
            <a:ext cx="1417320" cy="438912"/>
          </a:xfrm>
          <a:prstGeom prst="rect">
            <a:avLst/>
          </a:prstGeom>
          <a:solidFill>
            <a:srgbClr val="1A4A3A"/>
          </a:solidFill>
          <a:ln w="12700">
            <a:solidFill>
              <a:srgbClr val="1A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841248"/>
            <a:ext cx="14173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Batch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 MB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54480" y="1042416"/>
            <a:ext cx="22860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63240" y="1042416"/>
            <a:ext cx="22860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042416"/>
            <a:ext cx="22860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46520" y="1042416"/>
            <a:ext cx="18288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13075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0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by size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1572768"/>
            <a:ext cx="4114800" cy="2633472"/>
          </a:xfrm>
          <a:prstGeom prst="rect">
            <a:avLst/>
          </a:prstGeom>
          <a:solidFill>
            <a:srgbClr val="EBF5EB"/>
          </a:solidFill>
          <a:ln w="12700">
            <a:solidFill>
              <a:srgbClr val="BDD9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572768"/>
            <a:ext cx="4297680" cy="2633472"/>
          </a:xfrm>
          <a:prstGeom prst="rect">
            <a:avLst/>
          </a:prstGeom>
          <a:solidFill>
            <a:srgbClr val="E8F4FB"/>
          </a:solidFill>
          <a:ln w="12700">
            <a:solidFill>
              <a:srgbClr val="B0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1572768"/>
            <a:ext cx="4114800" cy="36576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1572768"/>
            <a:ext cx="4114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Lambda — Small Files (≤ 100 MB)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572768"/>
            <a:ext cx="4297680" cy="365760"/>
          </a:xfrm>
          <a:prstGeom prst="rect">
            <a:avLst/>
          </a:prstGeom>
          <a:solidFill>
            <a:srgbClr val="1A4A3A"/>
          </a:solidFill>
          <a:ln w="12700">
            <a:solidFill>
              <a:srgbClr val="1A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AWS Batch — Large Files (&gt; 100 MB)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2011680"/>
            <a:ext cx="384048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instantly — no cold start delay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~35 seconds for legal PDFs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seconds it runs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Auto-scales per file — no config needed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80% of org data (small PDFs)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timeout — well within limit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ZIP file (50MB zip / 250MB unzipped)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AWS provides Python automatically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011680"/>
            <a:ext cx="402336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timeout — runs as long as needed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Docker container — same code, more power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CPU &amp; RAM per job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instances = 70–90% cost savings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20% of org data (large PDFs)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1–2 min cold start overhead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Docker image (no size limit)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You include Python in container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434840"/>
            <a:ext cx="27432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files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by Lambda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4434840"/>
            <a:ext cx="2743200" cy="548640"/>
          </a:xfrm>
          <a:prstGeom prst="rect">
            <a:avLst/>
          </a:prstGeom>
          <a:solidFill>
            <a:srgbClr val="2E3A6B"/>
          </a:solidFill>
          <a:ln w="12700">
            <a:solidFill>
              <a:srgbClr val="2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0" y="4434840"/>
            <a:ext cx="2743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files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AWS Batch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4434840"/>
            <a:ext cx="2834640" cy="548640"/>
          </a:xfrm>
          <a:prstGeom prst="rect">
            <a:avLst/>
          </a:prstGeom>
          <a:solidFill>
            <a:srgbClr val="1A4A5A"/>
          </a:solidFill>
          <a:ln w="12700">
            <a:solidFill>
              <a:srgbClr val="1A4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26480" y="4434840"/>
            <a:ext cx="2834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business logic</a:t>
            </a:r>
            <a:endParaRPr lang="en-US" sz="11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runtime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— SHA-256 Content Hash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15544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8686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file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/tmp/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746504" y="1207008"/>
            <a:ext cx="210312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65960" y="868680"/>
            <a:ext cx="15544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65960" y="8686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bytes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9584" y="1207008"/>
            <a:ext cx="210312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49040" y="868680"/>
            <a:ext cx="15544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49040" y="8686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DynamoDB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12664" y="1207008"/>
            <a:ext cx="210312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32120" y="868680"/>
            <a:ext cx="1554480" cy="685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32120" y="8686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Duplicate?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95744" y="1207008"/>
            <a:ext cx="210312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868680"/>
            <a:ext cx="155448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8686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file?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1737360"/>
            <a:ext cx="5029200" cy="141732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179222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What is SHA-256?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10312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cryptographic function that produces a 64-character hex fingerprint of any file's raw bytes. Same content = same hash always. Even 1 byte different = completely different hash.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hash the FILE BYTES — not the filename. Renaming "contract.pdf" to "final_v2.pdf" does NOT fool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1737360"/>
            <a:ext cx="338328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23560" y="17922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Hash Output: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1031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a3f9d72c1b84e65d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02ca7f3b91e48d2a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7c305f6e8b12a94d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1fe76c2d30849b5e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291840"/>
            <a:ext cx="425196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Re-upload same file?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matches DynamoDB → skip entirely. No reprocessing, no duplicates in OpenSearch.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291840"/>
            <a:ext cx="4251960" cy="1234440"/>
          </a:xfrm>
          <a:prstGeom prst="rect">
            <a:avLst/>
          </a:prstGeom>
          <a:solidFill>
            <a:srgbClr val="FFF3E0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3337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Upload modified file?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6576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is different → delete old chunks from OpenSearch → reprocess fresh. No stale data.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914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— Metadata Store &amp; GSI Explained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1F6FBF"/>
          </a:solidFill>
          <a:ln w="12700">
            <a:solidFill>
              <a:srgbClr val="1F6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56032" y="868680"/>
            <a:ext cx="5074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50976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94183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Schema: rag-metadata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47472" y="1307592"/>
            <a:ext cx="4846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47472" y="1353312"/>
          <a:ext cx="4846320" cy="241401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document_id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key — primary lookup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6FB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content_hash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6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(GSI)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— duplicate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file_type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/ docx / 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Paragraphs parsed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chunks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Chunks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/ failed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timestamp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0" y="868680"/>
            <a:ext cx="3401568" cy="3429000"/>
          </a:xfrm>
          <a:prstGeom prst="rect">
            <a:avLst/>
          </a:prstGeom>
          <a:solidFill>
            <a:srgbClr val="EEF2FA"/>
          </a:solidFill>
          <a:ln w="12700">
            <a:solidFill>
              <a:srgbClr val="D0D8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5486400" y="868680"/>
            <a:ext cx="3401568" cy="438912"/>
          </a:xfrm>
          <a:prstGeom prst="rect">
            <a:avLst/>
          </a:prstGeom>
          <a:solidFill>
            <a:srgbClr val="E0E8F8"/>
          </a:solidFill>
          <a:ln w="12700">
            <a:solidFill>
              <a:srgbClr val="D0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5577840" y="886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What is a GSI?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577840" y="1353312"/>
            <a:ext cx="3200400" cy="2852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98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= Global Secondary Index
</a:t>
            </a: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DynamoDB's primary key is </a:t>
            </a:r>
            <a:r>
              <a:rPr lang="en-US" sz="9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document_id</a:t>
            </a: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(filename). But we need to search by </a:t>
            </a:r>
            <a:r>
              <a:rPr lang="en-US" sz="900" dirty="0">
                <a:solidFill>
                  <a:srgbClr val="1F6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content_hash</a:t>
            </a: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0" dirty="0"/>
          </a:p>
          <a:p>
            <a:pPr marL="0" indent="0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GSI:  </a:t>
            </a: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table scan = slow + expensive
</a:t>
            </a:r>
            <a:r>
              <a:rPr lang="en-US" sz="980" b="1" dirty="0">
                <a:solidFill>
                  <a:srgbClr val="1A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GSI:  </a:t>
            </a: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lookup on content_hash field
 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records are stored </a:t>
            </a:r>
            <a:r>
              <a:rPr lang="en-US" sz="980" b="1" u="sng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</a:t>
            </a: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won't appear like a regular DB Index.
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0" dirty="0"/>
          </a:p>
          <a:p>
            <a:pPr marL="0" indent="0">
              <a:buNone/>
            </a:pPr>
            <a:r>
              <a:rPr lang="en-US" sz="98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
</a:t>
            </a:r>
            <a:r>
              <a:rPr lang="en-US" sz="98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"give me metadata for this file"
</a:t>
            </a:r>
            <a:r>
              <a:rPr lang="en-US" sz="980" b="1" dirty="0">
                <a:solidFill>
                  <a:srgbClr val="1F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</a:t>
            </a:r>
            <a:r>
              <a:rPr lang="en-US" sz="98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"has this content been seen before?"</a:t>
            </a:r>
            <a:endParaRPr lang="en-US" sz="980" dirty="0"/>
          </a:p>
        </p:txBody>
      </p:sp>
      <p:sp>
        <p:nvSpPr>
          <p:cNvPr id="15" name="Shape 10"/>
          <p:cNvSpPr/>
          <p:nvPr/>
        </p:nvSpPr>
        <p:spPr>
          <a:xfrm>
            <a:off x="256032" y="4379976"/>
            <a:ext cx="863193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256032" y="4379976"/>
            <a:ext cx="64008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02336" y="4434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DynamoDB for Metadata?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090672" y="4462272"/>
            <a:ext cx="18288" cy="475488"/>
          </a:xfrm>
          <a:prstGeom prst="rect">
            <a:avLst/>
          </a:prstGeom>
          <a:solidFill>
            <a:srgbClr val="D0D8EE"/>
          </a:solidFill>
          <a:ln w="12700">
            <a:solidFill>
              <a:srgbClr val="D0D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3200400" y="4407408"/>
            <a:ext cx="55778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reads at any scale.  No schema migrations.  Pay-per-request at POC scale = ~$0/month.  Stores processing results (blocks, chunks, status) as an audit trail — if Lambda fails, you know exactly where it stopped.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Bytes — Detecting File Type the Right Way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50392"/>
            <a:ext cx="5577840" cy="141732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are Magic Bytes?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few raw bytes of a file contain a unique signature the OS uses to identify its true type. File extensions can be renamed or faked — magic bytes cannot. We read the actual binary content, not the filename.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850392"/>
            <a:ext cx="278892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72200" y="896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ignore extensions?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72200" y="12070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malicious.exe → report.pdf and the extension check passes. Magic bytes won't lie — .exe starts with MZ, never %PDF.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95728"/>
            <a:ext cx="283464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395728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4414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7432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50 44 46  →  "%PDF"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2395728"/>
            <a:ext cx="283464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2395728"/>
            <a:ext cx="73152" cy="6583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10712" y="24414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/ XLSX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0712" y="27432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4B 03 04  →  "PK\x03\x04"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2395728"/>
            <a:ext cx="283464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395728"/>
            <a:ext cx="73152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82512" y="24414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XLS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82512" y="27432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 CF 11 E0  →  "ÐÏ.à"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145536"/>
            <a:ext cx="283464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145536"/>
            <a:ext cx="73152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" y="319125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" y="34930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 50 4E 47  →  "\x89PNG"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3145536"/>
            <a:ext cx="283464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6120" y="3145536"/>
            <a:ext cx="73152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10712" y="319125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10712" y="34930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 D8 FF  →  "\xFF\xD8\xFF"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145536"/>
            <a:ext cx="283464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17920" y="3145536"/>
            <a:ext cx="73152" cy="65836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82512" y="319125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82512" y="34930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4B 05 06  →  "PK\x05\x06"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977640"/>
            <a:ext cx="8595360" cy="1051560"/>
          </a:xfrm>
          <a:prstGeom prst="rect">
            <a:avLst/>
          </a:prstGeom>
          <a:solidFill>
            <a:srgbClr val="FFEBEE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What Happens if Magic Byte Check Fails?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3251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type detected </a:t>
            </a: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File saved as 'rejected' in S3  →  DynamoDB status = 'rejected'  →  Lambda returns cleanly (no crash, no infinite retry).
</a:t>
            </a: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file uploaded </a:t>
            </a: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Same path. The file never reaches the parser. Your pipeline stays clean.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 — From Raw Bytes to Structured Blocks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50392"/>
            <a:ext cx="2788920" cy="173736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03120" y="850392"/>
            <a:ext cx="694944" cy="256032"/>
          </a:xfrm>
          <a:prstGeom prst="roundRect">
            <a:avLst>
              <a:gd name="adj" fmla="val 28571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03120" y="85039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heavy dependencies. Pure Python. No cryptography package conflict.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Single \n between lines (no paragraph breaks natively).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850392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896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20700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Extracts tables and layout info accurately.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29000" y="19019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Requires cryptography package — caused pip dependency conflict in Lambda.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850392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896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20700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Very fast, rich layout data.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19019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 extension — harder to package for Lambda.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4160520" cy="1554480"/>
          </a:xfrm>
          <a:prstGeom prst="rect">
            <a:avLst/>
          </a:prstGeom>
          <a:solidFill>
            <a:srgbClr val="FFF3E0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Fix: Page-Level Parsing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9067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 large page-level blocks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chunk = entire page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lost — no section awareness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retrieval quality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743200"/>
            <a:ext cx="416052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27889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Fix: Paragraph-Level Parsing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09067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75 paragraph-level blocks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Headings detected via short titlecase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Section name tracked per block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56 precise chunks → better retrieval</a:t>
            </a:r>
          </a:p>
        </p:txBody>
      </p:sp>
      <p:sp>
        <p:nvSpPr>
          <p:cNvPr id="24" name="Text 22"/>
          <p:cNvSpPr/>
          <p:nvPr/>
        </p:nvSpPr>
        <p:spPr>
          <a:xfrm>
            <a:off x="274320" y="43708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Test File: johnson_v._superior_court_1.pdf (CT legal case)   →   75 blocks  ·  56 chunks  ·  168 HyQ questions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 — Split by Meaning, Not by Size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50392"/>
            <a:ext cx="8595360" cy="68580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Semantic Chunking?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8961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slicing every 500 tokens blindly, we embed each paragraph and measure how similar adjacent paragraphs are. When topics change (low similarity), we start a new chunk. Result: each chunk is topically coherent.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3749040" cy="2651760"/>
          </a:xfrm>
          <a:prstGeom prst="rect">
            <a:avLst/>
          </a:prstGeom>
          <a:solidFill>
            <a:srgbClr val="EDE7F6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Simple Example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356616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'The plaintiff filed a motion...'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59736"/>
            <a:ext cx="356616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'The court reviewed the motion...'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sim: 0.92 → SAME CHUNK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356616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91693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'The defendant's attorney argued...'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08152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sim: 0.88 → SAME CHUNK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319272"/>
            <a:ext cx="3566160" cy="365760"/>
          </a:xfrm>
          <a:prstGeom prst="rect">
            <a:avLst/>
          </a:prstGeom>
          <a:solidFill>
            <a:srgbClr val="FFEBEE"/>
          </a:solidFill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34670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'Court costs are calculated by...'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511296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sim: 0.41 → NEW CHUNK ✂️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356616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D0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77647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'Attorney fees under Rule 11...'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941064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sim: 0.85 → SAME CHUNK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43400" y="1709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Parameters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4340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057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43400" y="24140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24140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43400" y="27706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27706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43400" y="31272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threshold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31272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34838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model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34838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Titan v1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1664208"/>
            <a:ext cx="2331720" cy="2651760"/>
          </a:xfrm>
          <a:prstGeom prst="rect">
            <a:avLst/>
          </a:prstGeom>
          <a:solidFill>
            <a:srgbClr val="FFF3E0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29400" y="17099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Split Triggers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0" y="2057400"/>
            <a:ext cx="2103120" cy="621792"/>
          </a:xfrm>
          <a:prstGeom prst="rect">
            <a:avLst/>
          </a:prstGeom>
          <a:solidFill>
            <a:srgbClr val="FFF8F0"/>
          </a:solidFill>
          <a:ln w="12700">
            <a:solidFill>
              <a:srgbClr val="FFD1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75120" y="208483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Cosine similarity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drops below 0.75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583680" y="2761488"/>
            <a:ext cx="2103120" cy="621792"/>
          </a:xfrm>
          <a:prstGeom prst="rect">
            <a:avLst/>
          </a:prstGeom>
          <a:solidFill>
            <a:srgbClr val="FFF8F0"/>
          </a:solidFill>
          <a:ln w="12700">
            <a:solidFill>
              <a:srgbClr val="FFD1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75120" y="2788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Token budget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exceeds 448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83680" y="3465576"/>
            <a:ext cx="2103120" cy="621792"/>
          </a:xfrm>
          <a:prstGeom prst="rect">
            <a:avLst/>
          </a:prstGeom>
          <a:solidFill>
            <a:srgbClr val="FFF8F0"/>
          </a:solidFill>
          <a:ln w="12700">
            <a:solidFill>
              <a:srgbClr val="FFD1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75120" y="34930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New section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heading detected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4480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Approach: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03120" y="44805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 accumulate in a group until a split trigger fires. The last group is always flushed after the loop (otherwise the final chunk is never emitted). 64-token overlap is carried into the next chunk for context continuity.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647497-A7FC-E4F7-7926-534D4BF23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952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72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vs Spread Embedding Models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82296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city — everyone lives close together. </a:t>
            </a:r>
            <a:r>
              <a:rPr lang="en-US" sz="1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country — different topics live in clearly separate regions.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1353312"/>
          <a:ext cx="8412480" cy="2743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Compressed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(Titan v1, Ada-002)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Spread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(text-embedding-3-large, Cohere v3)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How vectors are distributed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Tightly packed together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Spread across full vector space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Same topic similarity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0.90 – 0.98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0.85 – 0.95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Related but different topic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91C1C"/>
                          </a:solidFill>
                        </a:rPr>
                        <a:t>0.60 – 0.75  ← scores 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6B3A"/>
                          </a:solidFill>
                        </a:rPr>
                        <a:t>0.35 – 0.55  ← scores 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Completely different topic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0.30 – 0.50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0.05 – 0.25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Good split threshold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</a:rPr>
                        <a:t>0.70 – 0.75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6B3A"/>
                          </a:solidFill>
                        </a:rPr>
                        <a:t>0.50 – 0.60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Example: "Court filed" vs</a:t>
                      </a:r>
                      <a:endParaRPr lang="en-US" sz="1000" dirty="0"/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"Court costs calculated"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sim = 0.62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→ threshold 0.75 catches split 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91C1C"/>
                          </a:solidFill>
                        </a:rPr>
                        <a:t>sim = 0.45</a:t>
                      </a:r>
                      <a:endParaRPr lang="en-US" sz="1000" dirty="0"/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B91C1C"/>
                          </a:solidFill>
                        </a:rPr>
                        <a:t>→ threshold 0.75 over-splits ❌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315968"/>
            <a:ext cx="8412480" cy="621792"/>
          </a:xfrm>
          <a:prstGeom prst="rect">
            <a:avLst/>
          </a:prstGeom>
          <a:solidFill>
            <a:srgbClr val="FFF8E6"/>
          </a:solidFill>
          <a:ln w="12700">
            <a:solidFill>
              <a:srgbClr val="C05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4315968"/>
            <a:ext cx="8229600" cy="6217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threshold per model. Test known similar and dissimilar paragraph pairs. Find where similarity naturally drops off for that model — set threshold just above that floor.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7543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75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Embeddings — Making Chunks Searchable</a:t>
            </a:r>
            <a:endParaRPr lang="en-US" sz="2175" dirty="0"/>
          </a:p>
        </p:txBody>
      </p:sp>
      <p:sp>
        <p:nvSpPr>
          <p:cNvPr id="3" name="Shape 1"/>
          <p:cNvSpPr/>
          <p:nvPr/>
        </p:nvSpPr>
        <p:spPr>
          <a:xfrm>
            <a:off x="274320" y="644652"/>
            <a:ext cx="6515100" cy="37719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23710" y="644652"/>
            <a:ext cx="1062990" cy="37719"/>
          </a:xfrm>
          <a:prstGeom prst="rect">
            <a:avLst/>
          </a:prstGeom>
          <a:solidFill>
            <a:srgbClr val="CC4A00"/>
          </a:solidFill>
          <a:ln w="12700">
            <a:solidFill>
              <a:srgbClr val="CC4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570" y="34290"/>
            <a:ext cx="953262" cy="7200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733806"/>
            <a:ext cx="8572500" cy="411480"/>
          </a:xfrm>
          <a:prstGeom prst="rect">
            <a:avLst/>
          </a:prstGeom>
          <a:solidFill>
            <a:srgbClr val="EEF2FF"/>
          </a:solidFill>
          <a:ln w="19050">
            <a:solidFill>
              <a:srgbClr val="C7D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77190" y="768096"/>
            <a:ext cx="8366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→ Bedrock Titan → </a:t>
            </a:r>
            <a:r>
              <a:rPr lang="en-US" sz="112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1,536-dimension vector</a:t>
            </a:r>
            <a:r>
              <a:rPr lang="en-US" sz="112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list of 1,536 numbers capturing semantic meaning)</a:t>
            </a:r>
            <a:endParaRPr lang="en-US" sz="1125" dirty="0"/>
          </a:p>
        </p:txBody>
      </p:sp>
      <p:sp>
        <p:nvSpPr>
          <p:cNvPr id="8" name="Shape 5"/>
          <p:cNvSpPr/>
          <p:nvPr/>
        </p:nvSpPr>
        <p:spPr>
          <a:xfrm>
            <a:off x="274320" y="1248156"/>
            <a:ext cx="2640330" cy="2043684"/>
          </a:xfrm>
          <a:prstGeom prst="rect">
            <a:avLst/>
          </a:prstGeom>
          <a:solidFill>
            <a:srgbClr val="EBF1FB"/>
          </a:solidFill>
          <a:ln w="25400">
            <a:solidFill>
              <a:srgbClr val="2B5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" y="1364742"/>
            <a:ext cx="260604" cy="2606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0090" y="1337310"/>
            <a:ext cx="21259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B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Topics Cluster Together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97764" y="1693926"/>
            <a:ext cx="2393442" cy="2743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97764" y="1810512"/>
            <a:ext cx="2393442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about court motions land near each other in vector space. Chunks about weather land far away. Meaning drives proximity.</a:t>
            </a:r>
            <a:endParaRPr lang="en-US" sz="975" dirty="0"/>
          </a:p>
        </p:txBody>
      </p:sp>
      <p:sp>
        <p:nvSpPr>
          <p:cNvPr id="13" name="Shape 9"/>
          <p:cNvSpPr/>
          <p:nvPr/>
        </p:nvSpPr>
        <p:spPr>
          <a:xfrm>
            <a:off x="3086100" y="1248156"/>
            <a:ext cx="2640330" cy="2043684"/>
          </a:xfrm>
          <a:prstGeom prst="rect">
            <a:avLst/>
          </a:prstGeom>
          <a:solidFill>
            <a:srgbClr val="E8F5EE"/>
          </a:solidFill>
          <a:ln w="254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544" y="1364742"/>
            <a:ext cx="260604" cy="2606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31870" y="1337310"/>
            <a:ext cx="21259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KNN Search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209544" y="1693926"/>
            <a:ext cx="2393442" cy="2743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3209544" y="1810512"/>
            <a:ext cx="2393442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 — embed the question, find the nearest chunk vectors. Find by meaning, not just keywords.</a:t>
            </a:r>
          </a:p>
          <a:p>
            <a:endParaRPr lang="en-US" sz="975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75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</a:t>
            </a:r>
            <a:r>
              <a:rPr lang="en-US" sz="975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find K number of Nearest Neighbors.</a:t>
            </a:r>
          </a:p>
          <a:p>
            <a:r>
              <a:rPr lang="en-US" sz="975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r>
              <a:rPr lang="en-US" sz="975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975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AI Similarity Search</a:t>
            </a:r>
            <a:r>
              <a:rPr lang="en-US" sz="975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Library.</a:t>
            </a:r>
          </a:p>
          <a:p>
            <a:endParaRPr lang="en-US" sz="975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75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library</a:t>
            </a:r>
            <a:r>
              <a:rPr lang="en-US" sz="975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uses </a:t>
            </a:r>
            <a:r>
              <a:rPr lang="en-US" sz="975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</a:t>
            </a:r>
            <a:r>
              <a:rPr lang="en-US" sz="975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975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Navigable Small World</a:t>
            </a:r>
            <a:r>
              <a:rPr lang="en-US" sz="975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this is </a:t>
            </a:r>
            <a:r>
              <a:rPr lang="en-US" sz="975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r>
              <a:rPr lang="en-US" sz="975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technique for find ANN </a:t>
            </a:r>
            <a:endParaRPr lang="en-US" sz="975" dirty="0"/>
          </a:p>
        </p:txBody>
      </p:sp>
      <p:sp>
        <p:nvSpPr>
          <p:cNvPr id="18" name="Shape 13"/>
          <p:cNvSpPr/>
          <p:nvPr/>
        </p:nvSpPr>
        <p:spPr>
          <a:xfrm>
            <a:off x="5897880" y="1248156"/>
            <a:ext cx="2640330" cy="2043684"/>
          </a:xfrm>
          <a:prstGeom prst="rect">
            <a:avLst/>
          </a:prstGeom>
          <a:solidFill>
            <a:srgbClr val="FFF4E5"/>
          </a:solidFill>
          <a:ln w="25400">
            <a:solidFill>
              <a:srgbClr val="C0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1324" y="1364742"/>
            <a:ext cx="260604" cy="2606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43650" y="1337310"/>
            <a:ext cx="21259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C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Embedding Per Chunk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021324" y="1693926"/>
            <a:ext cx="2393442" cy="27432"/>
          </a:xfrm>
          <a:prstGeom prst="rect">
            <a:avLst/>
          </a:prstGeom>
          <a:solidFill>
            <a:srgbClr val="C05A00"/>
          </a:solidFill>
          <a:ln w="12700">
            <a:solidFill>
              <a:srgbClr val="C05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021324" y="1810512"/>
            <a:ext cx="2393442" cy="1357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once at ingestion. Stored in OpenSearch. Reused for every query. No re-embedding cost at query time.</a:t>
            </a:r>
            <a:endParaRPr lang="en-US" sz="975" dirty="0"/>
          </a:p>
        </p:txBody>
      </p:sp>
      <p:sp>
        <p:nvSpPr>
          <p:cNvPr id="23" name="Shape 17"/>
          <p:cNvSpPr/>
          <p:nvPr/>
        </p:nvSpPr>
        <p:spPr>
          <a:xfrm>
            <a:off x="274320" y="3497580"/>
            <a:ext cx="1611630" cy="56235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308610" y="3525012"/>
            <a:ext cx="154305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Text</a:t>
            </a:r>
            <a:endParaRPr lang="en-US" sz="1013" dirty="0"/>
          </a:p>
        </p:txBody>
      </p:sp>
      <p:sp>
        <p:nvSpPr>
          <p:cNvPr id="25" name="Text 19"/>
          <p:cNvSpPr/>
          <p:nvPr/>
        </p:nvSpPr>
        <p:spPr>
          <a:xfrm>
            <a:off x="1906524" y="3579876"/>
            <a:ext cx="26060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555555"/>
                </a:solidFill>
              </a:rPr>
              <a:t>→</a:t>
            </a:r>
            <a:endParaRPr lang="en-US" sz="1950" dirty="0"/>
          </a:p>
        </p:txBody>
      </p:sp>
      <p:sp>
        <p:nvSpPr>
          <p:cNvPr id="26" name="Shape 20"/>
          <p:cNvSpPr/>
          <p:nvPr/>
        </p:nvSpPr>
        <p:spPr>
          <a:xfrm>
            <a:off x="2194560" y="3497580"/>
            <a:ext cx="1611630" cy="562356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2228850" y="3525012"/>
            <a:ext cx="154305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Titan</a:t>
            </a:r>
            <a:endParaRPr lang="en-US" sz="1013" dirty="0"/>
          </a:p>
        </p:txBody>
      </p:sp>
      <p:sp>
        <p:nvSpPr>
          <p:cNvPr id="28" name="Text 22"/>
          <p:cNvSpPr/>
          <p:nvPr/>
        </p:nvSpPr>
        <p:spPr>
          <a:xfrm>
            <a:off x="3826764" y="3579876"/>
            <a:ext cx="26060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555555"/>
                </a:solidFill>
              </a:rPr>
              <a:t>→</a:t>
            </a:r>
            <a:endParaRPr lang="en-US" sz="1950" dirty="0"/>
          </a:p>
        </p:txBody>
      </p:sp>
      <p:sp>
        <p:nvSpPr>
          <p:cNvPr id="29" name="Shape 23"/>
          <p:cNvSpPr/>
          <p:nvPr/>
        </p:nvSpPr>
        <p:spPr>
          <a:xfrm>
            <a:off x="4114800" y="3497580"/>
            <a:ext cx="1611630" cy="56235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149090" y="3525012"/>
            <a:ext cx="154305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1,536 floats</a:t>
            </a:r>
            <a:endParaRPr lang="en-US" sz="1013" dirty="0"/>
          </a:p>
        </p:txBody>
      </p:sp>
      <p:sp>
        <p:nvSpPr>
          <p:cNvPr id="31" name="Text 25"/>
          <p:cNvSpPr/>
          <p:nvPr/>
        </p:nvSpPr>
        <p:spPr>
          <a:xfrm>
            <a:off x="5747004" y="3579876"/>
            <a:ext cx="26060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555555"/>
                </a:solidFill>
              </a:rPr>
              <a:t>→</a:t>
            </a:r>
            <a:endParaRPr lang="en-US" sz="1950" dirty="0"/>
          </a:p>
        </p:txBody>
      </p:sp>
      <p:sp>
        <p:nvSpPr>
          <p:cNvPr id="32" name="Shape 26"/>
          <p:cNvSpPr/>
          <p:nvPr/>
        </p:nvSpPr>
        <p:spPr>
          <a:xfrm>
            <a:off x="6035040" y="3497580"/>
            <a:ext cx="1611630" cy="562356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6069330" y="3525012"/>
            <a:ext cx="154305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1013" dirty="0"/>
          </a:p>
          <a:p>
            <a:pPr algn="ctr"/>
            <a:r>
              <a:rPr lang="en-US" sz="101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rag-chunks index</a:t>
            </a:r>
            <a:endParaRPr lang="en-US" sz="1013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90" y="3305556"/>
            <a:ext cx="1001268" cy="7543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818120" y="3209544"/>
            <a:ext cx="120015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38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AWS Titan</a:t>
            </a:r>
            <a:endParaRPr lang="en-US" sz="638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HyQ — Hypothetical Questions at Ingestion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8686800" cy="658368"/>
          </a:xfrm>
          <a:prstGeom prst="rect">
            <a:avLst/>
          </a:prstGeom>
          <a:solidFill>
            <a:srgbClr val="EEF0F8"/>
          </a:solidFill>
          <a:ln w="19050">
            <a:solidFill>
              <a:srgbClr val="C8C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68096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chunk, Nova Micro generates </a:t>
            </a:r>
            <a:r>
              <a:rPr lang="en-US" sz="13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the chunk could answer.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Stored as plain text in OpenSearch alongside the chunk.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99616"/>
            <a:ext cx="8686800" cy="1783080"/>
          </a:xfrm>
          <a:prstGeom prst="rect">
            <a:avLst/>
          </a:prstGeom>
          <a:solidFill>
            <a:srgbClr val="FAFAFA"/>
          </a:solidFill>
          <a:ln w="254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HyQ Example — Legal Document Chunk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92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text: </a:t>
            </a:r>
            <a:r>
              <a:rPr lang="en-US" sz="11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plaintiff argued that the court lacked jurisdiction over the matter..."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2194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HyQ 1: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did the plaintiff argue?"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450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HyQ 2: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what grounds did the plaintiff challenge jurisdiction?"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27066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HyQ 3: </a:t>
            </a: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legal argument was raised about court authority?"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8600" y="3401568"/>
            <a:ext cx="2286000" cy="11430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" y="343814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28600" y="3968496"/>
            <a:ext cx="2286000" cy="475488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HyQ questions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chunk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3401568"/>
            <a:ext cx="2286000" cy="11430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08960" y="343814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108960" y="3968496"/>
            <a:ext cx="2286000" cy="475488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johnson_v_superior_court.pdf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3401568"/>
            <a:ext cx="2286000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9320" y="343814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989320" y="3968496"/>
            <a:ext cx="2286000" cy="475488"/>
          </a:xfrm>
          <a:prstGeom prst="rect">
            <a:avLst/>
          </a:prstGeom>
          <a:noFill/>
          <a:ln/>
        </p:spPr>
        <p:txBody>
          <a:bodyPr wrap="square" lIns="25400" tIns="50800" rIns="5080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HyQ questions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33472" y="35661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13832" y="35661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28600" y="4636008"/>
            <a:ext cx="8686800" cy="384048"/>
          </a:xfrm>
          <a:prstGeom prst="rect">
            <a:avLst/>
          </a:prstGeom>
          <a:solidFill>
            <a:srgbClr val="FFFBF0"/>
          </a:solidFill>
          <a:ln w="190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46451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questions match pre-generated questions far better than raw chunk text. Question-to-question matching beats question-to-document matching.</a:t>
            </a:r>
            <a:endParaRPr lang="en-US" sz="10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527048"/>
            <a:ext cx="512064" cy="42976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656832" y="2029968"/>
            <a:ext cx="2258568" cy="4572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84264" y="203911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306056" y="2084832"/>
            <a:ext cx="18288" cy="2926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351776" y="2039112"/>
            <a:ext cx="1536192" cy="42062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Store HyQ as Text — Not Embeddings?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251960" cy="3246120"/>
          </a:xfrm>
          <a:prstGeom prst="rect">
            <a:avLst/>
          </a:prstGeom>
          <a:solidFill>
            <a:srgbClr val="F0FBF0"/>
          </a:solidFill>
          <a:ln w="254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Current Approach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HyQ as Text (BM25)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97764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977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search on question 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weight on HyQ fields in hybrid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'plaintiff argued' → exact keyword match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zero extra Bedrock API cost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90% of the benefit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251960" cy="3246120"/>
          </a:xfrm>
          <a:prstGeom prst="rect">
            <a:avLst/>
          </a:prstGeom>
          <a:solidFill>
            <a:srgbClr val="FFF8E6"/>
          </a:solidFill>
          <a:ln w="25400">
            <a:solidFill>
              <a:srgbClr val="C05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868680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Alternative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0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HyQ as Embeddings (KNN)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83480" y="1554480"/>
            <a:ext cx="3977640" cy="27432"/>
          </a:xfrm>
          <a:prstGeom prst="rect">
            <a:avLst/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645920"/>
            <a:ext cx="3977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each HyQ → KNN semantic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semantically similar questions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powerful — catches paraphrases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embedding cost at ingestion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KNN index + added query latency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084832"/>
            <a:ext cx="6400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51960" y="208483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EEF2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BM25 gets 90% of the benefit at a fraction of the cost. For a POC, this is the right trade-off. </a:t>
            </a: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upgrade path: add HyQ embeddings when retrieval quality needs to improve.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365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Storage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13232" y="347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Structure &amp; KNN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589520" y="118872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89520" y="11887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OpenSearch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64592" y="749808"/>
            <a:ext cx="4133088" cy="3520440"/>
          </a:xfrm>
          <a:prstGeom prst="rect">
            <a:avLst/>
          </a:prstGeom>
          <a:solidFill>
            <a:srgbClr val="F5F8FF"/>
          </a:solidFill>
          <a:ln w="12700">
            <a:solidFill>
              <a:srgbClr val="D0DAFB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64592" y="749808"/>
            <a:ext cx="4133088" cy="384048"/>
          </a:xfrm>
          <a:prstGeom prst="rect">
            <a:avLst/>
          </a:prstGeom>
          <a:solidFill>
            <a:srgbClr val="E8EFFE"/>
          </a:solidFill>
          <a:ln w="12700">
            <a:solidFill>
              <a:srgbClr val="D0DA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56032" y="749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Index: rag-chunks — Fields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4592" y="1188720"/>
            <a:ext cx="41330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56032" y="12252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508760" y="122529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paragraph text (BM25 searchable)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4592" y="1591056"/>
            <a:ext cx="4133088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56032" y="16276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508760" y="162763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1536-dim Titan vector (KNN searchable)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64592" y="1993392"/>
            <a:ext cx="41330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56032" y="2029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hyq_questions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508760" y="202996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generated questions (BM25, 2× weight)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64592" y="2395728"/>
            <a:ext cx="4133088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56032" y="2432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source_key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508760" y="243230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filename — for attribution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64592" y="2798064"/>
            <a:ext cx="41330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56032" y="28346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508760" y="28346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 from PDF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64592" y="3200400"/>
            <a:ext cx="4133088" cy="402336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56032" y="32369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508760" y="323697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section heading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64592" y="3602736"/>
            <a:ext cx="413308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56032" y="36393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chunk_index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508760" y="363931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within the document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462272" y="749808"/>
            <a:ext cx="4517136" cy="2340864"/>
          </a:xfrm>
          <a:prstGeom prst="rect">
            <a:avLst/>
          </a:prstGeom>
          <a:solidFill>
            <a:srgbClr val="F0FFF4"/>
          </a:solidFill>
          <a:ln w="12700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462272" y="749808"/>
            <a:ext cx="4517136" cy="384048"/>
          </a:xfrm>
          <a:prstGeom prst="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553712" y="7498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Why KNN? How Does It Work?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0" y="1170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= K-Nearest Neighbours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0" y="14630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time: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617720" y="1682496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question → embed → 1536-dim vector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617720" y="193852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Find the K closest stored vectors (cosine similarity)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617720" y="219456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Return those chunks — semantically similar even if no keyword overlap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617720" y="246888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HNSW graph (fast approximate search)</a:t>
            </a:r>
            <a:b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Facebook AI Similarity Search Library. </a:t>
            </a:r>
            <a:r>
              <a:rPr lang="en-US" sz="8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Hierarchical Navigable Small World 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617720" y="267919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Similarity: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(angle between vectors — ignores magnitude)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617720" y="288950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 </a:t>
            </a: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1,536 (Titan v1)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462272" y="3182112"/>
            <a:ext cx="4517136" cy="108813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462272" y="3182112"/>
            <a:ext cx="4517136" cy="347472"/>
          </a:xfrm>
          <a:prstGeom prst="rect">
            <a:avLst/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553712" y="31821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Hybrid Search: BM25 + KNN Combined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4572000" y="3566160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catches exact keyword matches ("plaintiff argued").   </a:t>
            </a:r>
            <a:r>
              <a:rPr lang="en-US" sz="88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catches semantic matches ("what the claimant claimed").   </a:t>
            </a:r>
            <a:r>
              <a:rPr lang="en-US" sz="88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min_max normalization</a:t>
            </a: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makes scores comparable.   </a:t>
            </a:r>
            <a:r>
              <a:rPr lang="en-US" sz="88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arithmetic_mean</a:t>
            </a: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combines them. Either alone misses valid results.</a:t>
            </a:r>
            <a:endParaRPr lang="en-US" sz="880" dirty="0"/>
          </a:p>
        </p:txBody>
      </p:sp>
      <p:sp>
        <p:nvSpPr>
          <p:cNvPr id="47" name="Text 44"/>
          <p:cNvSpPr/>
          <p:nvPr/>
        </p:nvSpPr>
        <p:spPr>
          <a:xfrm>
            <a:off x="164592" y="4773168"/>
            <a:ext cx="8814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CloudWatch monitoring not added in this POC — planned for Month 4 post-demo roadmap.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🛡️  Security — How Lambda Accesses AWS Services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534924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761"/>
                </a:solidFill>
              </a:rPr>
              <a:t>🛡️  IAM Role: rag-document-processor-role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51663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1704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boto3 / Client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90672" y="1170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Lambda Does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5166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463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560A"/>
                </a:solidFill>
              </a:rPr>
              <a:t>S3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17320" y="14630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boto3.client('s3')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90672" y="14630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Download PDF, save chunks JSON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847088"/>
            <a:ext cx="51663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18470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DynamoDB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17320" y="18470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boto3.resource('dynamodb')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90672" y="18470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GSI duplicate check, write metadata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231136"/>
            <a:ext cx="5166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22311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A1B9A"/>
                </a:solidFill>
              </a:rPr>
              <a:t>Bedrock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17320" y="2231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boto3.client('bedrock-runtime')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90672" y="22311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Titan embed, Nova HyQ+HyDE+answer, Cohere rerank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615184"/>
            <a:ext cx="5166360" cy="384048"/>
          </a:xfrm>
          <a:prstGeom prst="rect">
            <a:avLst/>
          </a:prstGeom>
          <a:solidFill>
            <a:srgbClr val="F7F9FC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" y="2615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560A"/>
                </a:solidFill>
              </a:rPr>
              <a:t>SQS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17320" y="2615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boto3.client('sqs')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090672" y="2615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Read messages, delete after success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999232"/>
            <a:ext cx="5166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29992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CloudWatch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417320" y="2999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LambdaBasicExecutionRole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90672" y="2999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Write logs automatically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383280"/>
            <a:ext cx="5166360" cy="384048"/>
          </a:xfrm>
          <a:prstGeom prst="rect">
            <a:avLst/>
          </a:prstGeom>
          <a:solidFill>
            <a:srgbClr val="F0FAFA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3383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</a:rPr>
              <a:t>OpenSearch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17320" y="3383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AWS4Auth (requests)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090672" y="33832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Sign HTTP requests via STS. Endpoint from SSM Parameter Store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60720" y="749808"/>
            <a:ext cx="3154680" cy="4160520"/>
          </a:xfrm>
          <a:prstGeom prst="rect">
            <a:avLst/>
          </a:prstGeom>
          <a:solidFill>
            <a:srgbClr val="EEF3FA"/>
          </a:solidFill>
          <a:ln w="9525">
            <a:solidFill>
              <a:srgbClr val="C5D5E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25312" y="8412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</a:rPr>
              <a:t>🔑  How STS Works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25312" y="115214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</a:rPr>
              <a:t>No passwords. No API keys.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</a:rPr>
              <a:t>No secrets stored anywhere.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25312" y="16642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</a:rPr>
              <a:t>1.  </a:t>
            </a:r>
            <a:r>
              <a:rPr lang="en-US" sz="1000" dirty="0">
                <a:solidFill>
                  <a:srgbClr val="333333"/>
                </a:solidFill>
              </a:rPr>
              <a:t>Lambda starts → AWS auto-attaches IAM Role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25312" y="223113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</a:rPr>
              <a:t>2.  </a:t>
            </a:r>
            <a:r>
              <a:rPr lang="en-US" sz="1000" dirty="0">
                <a:solidFill>
                  <a:srgbClr val="333333"/>
                </a:solidFill>
              </a:rPr>
              <a:t>boto3 silently calls STS → gets temp credentials (expire ~1hr)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25312" y="2798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</a:rPr>
              <a:t>3.  </a:t>
            </a:r>
            <a:r>
              <a:rPr lang="en-US" sz="1000" dirty="0">
                <a:solidFill>
                  <a:srgbClr val="333333"/>
                </a:solidFill>
              </a:rPr>
              <a:t>Every API call is signed with those credentials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25312" y="336499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</a:rPr>
              <a:t>4.  </a:t>
            </a:r>
            <a:r>
              <a:rPr lang="en-US" sz="1000" dirty="0">
                <a:solidFill>
                  <a:srgbClr val="333333"/>
                </a:solidFill>
              </a:rPr>
              <a:t>Each service checks IAM policy → allows or denies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5001768"/>
            <a:ext cx="868680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28600" y="4160520"/>
            <a:ext cx="8686800" cy="749808"/>
          </a:xfrm>
          <a:prstGeom prst="rect">
            <a:avLst/>
          </a:prstGeom>
          <a:solidFill>
            <a:srgbClr val="FFF8EC"/>
          </a:solidFill>
          <a:ln w="9525">
            <a:solidFill>
              <a:srgbClr val="D487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28600" y="4160520"/>
            <a:ext cx="54864" cy="749808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84048" y="41788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560A"/>
                </a:solidFill>
              </a:rPr>
              <a:t>💡  Production Security Pattern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84048" y="444398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44444"/>
                </a:solidFill>
              </a:rPr>
              <a:t>One IAM Role unlocks all services via STS temp credentials — no passwords stored anywhere.  OpenSearch URL in </a:t>
            </a:r>
            <a:r>
              <a:rPr lang="en-US" sz="1000" b="1" dirty="0">
                <a:solidFill>
                  <a:srgbClr val="1565C0"/>
                </a:solidFill>
              </a:rPr>
              <a:t>SSM Parameter Store</a:t>
            </a:r>
            <a:r>
              <a:rPr lang="en-US" sz="1000" dirty="0">
                <a:solidFill>
                  <a:srgbClr val="444444"/>
                </a:solidFill>
              </a:rPr>
              <a:t>.  OpenSearch admin creds in </a:t>
            </a:r>
            <a:r>
              <a:rPr lang="en-US" sz="1000" b="1" dirty="0">
                <a:solidFill>
                  <a:srgbClr val="1565C0"/>
                </a:solidFill>
              </a:rPr>
              <a:t>Secrets Manager</a:t>
            </a:r>
            <a:r>
              <a:rPr lang="en-US" sz="1000" dirty="0">
                <a:solidFill>
                  <a:srgbClr val="444444"/>
                </a:solidFill>
              </a:rPr>
              <a:t> (dashboard only — Lambda never touches them).  Zero hardcoded credentials.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Reupload &amp; Reprocessing — What Happens?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94944"/>
            <a:ext cx="841248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50392"/>
            <a:ext cx="416052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Scenario 1: Same File Re-Uploaded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43584"/>
            <a:ext cx="3886200" cy="274320"/>
          </a:xfrm>
          <a:prstGeom prst="rect">
            <a:avLst/>
          </a:prstGeom>
          <a:solidFill>
            <a:srgbClr val="F1F8F1"/>
          </a:solidFill>
          <a:ln w="635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File arrives at Lambda via SQS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563624"/>
            <a:ext cx="3886200" cy="274320"/>
          </a:xfrm>
          <a:prstGeom prst="rect">
            <a:avLst/>
          </a:prstGeom>
          <a:solidFill>
            <a:srgbClr val="F1F8F1"/>
          </a:solidFill>
          <a:ln w="635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SHA-256 hash computed from bytes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883664"/>
            <a:ext cx="3886200" cy="274320"/>
          </a:xfrm>
          <a:prstGeom prst="rect">
            <a:avLst/>
          </a:prstGeom>
          <a:solidFill>
            <a:srgbClr val="C8E6C9"/>
          </a:solidFill>
          <a:ln w="635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90195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GSI query on DynamoDB → MATCH found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203704"/>
            <a:ext cx="3886200" cy="274320"/>
          </a:xfrm>
          <a:prstGeom prst="rect">
            <a:avLst/>
          </a:prstGeom>
          <a:solidFill>
            <a:srgbClr val="F1F8F1"/>
          </a:solidFill>
          <a:ln w="635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22199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Lambda logs: "Duplicate detected"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523744"/>
            <a:ext cx="3886200" cy="274320"/>
          </a:xfrm>
          <a:prstGeom prst="rect">
            <a:avLst/>
          </a:prstGeom>
          <a:solidFill>
            <a:srgbClr val="F1F8F1"/>
          </a:solidFill>
          <a:ln w="635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54203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Returns immediately — zero processing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843784"/>
            <a:ext cx="3886200" cy="274320"/>
          </a:xfrm>
          <a:prstGeom prst="rect">
            <a:avLst/>
          </a:prstGeom>
          <a:solidFill>
            <a:srgbClr val="F1F8F1"/>
          </a:solidFill>
          <a:ln w="635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86207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 new OpenSearch documents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163824"/>
            <a:ext cx="3886200" cy="274320"/>
          </a:xfrm>
          <a:prstGeom prst="rect">
            <a:avLst/>
          </a:prstGeom>
          <a:solidFill>
            <a:srgbClr val="F1F8F1"/>
          </a:solidFill>
          <a:ln w="635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1821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No DynamoDB update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50215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Result: No duplicates. Idempotent pipeline.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850392"/>
            <a:ext cx="4160520" cy="3200400"/>
          </a:xfrm>
          <a:prstGeom prst="rect">
            <a:avLst/>
          </a:prstGeom>
          <a:solidFill>
            <a:srgbClr val="FFF3E0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89611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Scenario 2: Updated File Re-Uploaded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243584"/>
            <a:ext cx="3886200" cy="274320"/>
          </a:xfrm>
          <a:prstGeom prst="rect">
            <a:avLst/>
          </a:prstGeom>
          <a:solidFill>
            <a:srgbClr val="FFFBF5"/>
          </a:solidFill>
          <a:ln w="6350">
            <a:solidFill>
              <a:srgbClr val="FFE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126187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File arrives at Lambda via SQS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563624"/>
            <a:ext cx="3886200" cy="274320"/>
          </a:xfrm>
          <a:prstGeom prst="rect">
            <a:avLst/>
          </a:prstGeom>
          <a:solidFill>
            <a:srgbClr val="FFFBF5"/>
          </a:solidFill>
          <a:ln w="6350">
            <a:solidFill>
              <a:srgbClr val="FFE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5819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SHA-256 hash computed from bytes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1883664"/>
            <a:ext cx="3886200" cy="274320"/>
          </a:xfrm>
          <a:prstGeom prst="rect">
            <a:avLst/>
          </a:prstGeom>
          <a:solidFill>
            <a:srgbClr val="FFFBF5"/>
          </a:solidFill>
          <a:ln w="6350">
            <a:solidFill>
              <a:srgbClr val="FFE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90195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GSI query on DynamoDB → NO match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2203704"/>
            <a:ext cx="3886200" cy="274320"/>
          </a:xfrm>
          <a:prstGeom prst="rect">
            <a:avLst/>
          </a:prstGeom>
          <a:solidFill>
            <a:srgbClr val="FFFBF5"/>
          </a:solidFill>
          <a:ln w="6350">
            <a:solidFill>
              <a:srgbClr val="FFE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222199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Full pipeline runs (detect → parse → chunk)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523744"/>
            <a:ext cx="3886200" cy="274320"/>
          </a:xfrm>
          <a:prstGeom prst="rect">
            <a:avLst/>
          </a:prstGeom>
          <a:solidFill>
            <a:srgbClr val="FFE0B2"/>
          </a:solidFill>
          <a:ln w="6350">
            <a:solidFill>
              <a:srgbClr val="FFE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54203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delete_old_chunks() removes stale OpenSearch docs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2843784"/>
            <a:ext cx="3886200" cy="274320"/>
          </a:xfrm>
          <a:prstGeom prst="rect">
            <a:avLst/>
          </a:prstGeom>
          <a:solidFill>
            <a:srgbClr val="FFFBF5"/>
          </a:solidFill>
          <a:ln w="6350">
            <a:solidFill>
              <a:srgbClr val="FFE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286207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New chunks + embeddings indexed fresh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163824"/>
            <a:ext cx="3886200" cy="274320"/>
          </a:xfrm>
          <a:prstGeom prst="rect">
            <a:avLst/>
          </a:prstGeom>
          <a:solidFill>
            <a:srgbClr val="FFFBF5"/>
          </a:solidFill>
          <a:ln w="6350">
            <a:solidFill>
              <a:srgbClr val="FFE0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31821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DynamoDB record updated with new hash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350215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Result: Old data removed. Fresh data indexed. No stale chunks.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9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206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Function: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1168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delete_old_chunks(source_key)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4206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queries OpenSearch by source_key, deletes all matching docs before re-indexing. Prevents the same file from accumulating duplicate vectors over multiple uploads.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6F53A3-36A7-9C3A-0B4A-10603B111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54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F3E12-4500-6925-9400-960F0A49D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LangGrapha Tracing in LangSmith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CC33A-2882-2721-37F1-4B049482D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881" y="109728"/>
            <a:ext cx="5875185" cy="482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179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15087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35204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0" y="55321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1371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42976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Pipeline Architecture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365760" y="877824"/>
            <a:ext cx="8412480" cy="3200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1005840"/>
            <a:ext cx="1719072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106984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React UI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4320" y="1353312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HTTPS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011680" y="1316736"/>
            <a:ext cx="356616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386584" y="1005840"/>
            <a:ext cx="1719072" cy="62179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386584" y="106984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Cognito Auth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386584" y="1353312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23944" y="1316736"/>
            <a:ext cx="356616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498848" y="1005840"/>
            <a:ext cx="1719072" cy="62179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498848" y="106984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API Gateway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98848" y="1353312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+ JWT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36208" y="1316736"/>
            <a:ext cx="356616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611112" y="1005840"/>
            <a:ext cx="1719072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611112" y="1069848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Lambda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611112" y="1353312"/>
            <a:ext cx="1719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rag-query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70648" y="1627632"/>
            <a:ext cx="0" cy="201168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86968" y="1764792"/>
            <a:ext cx="310896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86968" y="1764792"/>
            <a:ext cx="3108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6032" y="2011680"/>
            <a:ext cx="1572768" cy="804672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56032" y="20665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HyDE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256032" y="235915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→ hypothetical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→ Titan embed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837944" y="2414016"/>
            <a:ext cx="23774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715768" y="1764792"/>
            <a:ext cx="310896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715768" y="1764792"/>
            <a:ext cx="3108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084832" y="2011680"/>
            <a:ext cx="1572768" cy="804672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084832" y="20665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Hybrid Search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2084832" y="235915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(text+HyQ 2×)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KNN → top 10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666744" y="2414016"/>
            <a:ext cx="23774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544568" y="1764792"/>
            <a:ext cx="310896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544568" y="1764792"/>
            <a:ext cx="3108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913632" y="2011680"/>
            <a:ext cx="1572768" cy="8046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913632" y="20665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Cohere Rerank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3913632" y="235915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rescores → top 5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495544" y="2414016"/>
            <a:ext cx="23774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373368" y="1764792"/>
            <a:ext cx="310896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73368" y="1764792"/>
            <a:ext cx="3108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742432" y="2011680"/>
            <a:ext cx="1572768" cy="8046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742432" y="20665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Dedup Page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5742432" y="235915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overlapping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results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324344" y="2414016"/>
            <a:ext cx="237744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202168" y="1764792"/>
            <a:ext cx="310896" cy="2468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202168" y="1764792"/>
            <a:ext cx="31089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571232" y="2011680"/>
            <a:ext cx="1572768" cy="80467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571232" y="2066544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Nova Answer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7571232" y="2359152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top chunks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8357616" y="2816352"/>
            <a:ext cx="0" cy="164592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5440680" y="3035808"/>
            <a:ext cx="3429000" cy="56692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5440680" y="3035808"/>
            <a:ext cx="54864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596128" y="307238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JSON Response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5596128" y="331012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·  page  ·  section  ·  relevance score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74320" y="3813048"/>
            <a:ext cx="2084832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384048" y="3840480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384048" y="4050792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answer, not question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496312" y="3813048"/>
            <a:ext cx="2084832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606040" y="3840480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KNN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2606040" y="4050792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semantic search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718304" y="3813048"/>
            <a:ext cx="2084832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828032" y="3840480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Rerank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4828032" y="4050792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precision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940296" y="3813048"/>
            <a:ext cx="2084832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7050024" y="3840480"/>
            <a:ext cx="19019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Micro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7050024" y="4050792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274320" y="442569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deep-dive coming June 4 — today was the foundation that makes this possible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— Hypothetical Document Embedding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questions and answers live in different vector spaces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32588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question: 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was Johnson convicted of?"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Short, sparse, interrogative style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 lands in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space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Far from stored legal paragraphs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32588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HyDE 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813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passage: 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"Johnson was convicted of flag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desecration under Texas Penal Code §42.09..."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Long, dense, declarative style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 lands in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space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Close to stored chunks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764792"/>
            <a:ext cx="18288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 Flow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1325880" cy="47548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90779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4520" y="2907792"/>
            <a:ext cx="68122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20240" y="2907792"/>
            <a:ext cx="6720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was Gregory Johnson convicted of?"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83864"/>
            <a:ext cx="1325880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48386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Micro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74520" y="3483864"/>
            <a:ext cx="68122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20240" y="3483864"/>
            <a:ext cx="6720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"Johnson was convicted of flag desecration under Texas Penal 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§42.09(a)(3), arising from burning an American flag during a 1984 protest."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1325880" cy="47548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05993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Embeds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74520" y="4059936"/>
            <a:ext cx="681228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20240" y="4059936"/>
            <a:ext cx="672084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[0.0231, -0.0847, 0.1203, ...] — 1536 float values  →  used for KNN search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6634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HyDE Hallucination Safety: If the HyDE passage is wrong, KNN still finds semantically similar chunks — wrong facts won't corrupt search direction. Fallback: use raw question if HyDE LLM fails.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030" y="17145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— How It Improves Retrieval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71450" y="562356"/>
            <a:ext cx="8503920" cy="274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" name="Shape 2"/>
          <p:cNvSpPr/>
          <p:nvPr/>
        </p:nvSpPr>
        <p:spPr>
          <a:xfrm>
            <a:off x="205740" y="685800"/>
            <a:ext cx="50063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5417820" y="685800"/>
            <a:ext cx="3360420" cy="3566160"/>
          </a:xfrm>
          <a:prstGeom prst="rect">
            <a:avLst/>
          </a:prstGeom>
          <a:solidFill>
            <a:srgbClr val="E7ED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205740" y="4354830"/>
            <a:ext cx="8572500" cy="617220"/>
          </a:xfrm>
          <a:prstGeom prst="rect">
            <a:avLst/>
          </a:prstGeom>
          <a:solidFill>
            <a:srgbClr val="ECE0B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377190" y="822960"/>
            <a:ext cx="466344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Query: "Was Johnson punished for what he did?"
</a:t>
            </a:r>
            <a:r>
              <a:rPr lang="en-US" sz="112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HyDE
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 is vague and sparse
• Uses 'punished' while chunk says 'convicted'
• Poor vector similarity
• Wrong chunks returned
</a:t>
            </a:r>
            <a:r>
              <a:rPr lang="en-US" sz="112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With HyDE
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Nova generates: "Johnson was found guilty of flag desecration
  and sentenced under Texas state law..."
• Adds words: guilty / convicted / sentenced / Dallas
• Vector lands in answer space — close to stored chunks
• Search retrieves the correct chunk
</a:t>
            </a:r>
            <a:r>
              <a:rPr lang="en-US" sz="97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975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HyDE passage is never shown to the user.</a:t>
            </a:r>
            <a:endParaRPr lang="en-US" sz="1050" dirty="0"/>
          </a:p>
          <a:p>
            <a:r>
              <a:rPr lang="en-US" sz="975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discarded after retrieval. Faithfulness = 1.00.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89270" y="925830"/>
            <a:ext cx="294894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2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Insight
</a:t>
            </a:r>
            <a:r>
              <a:rPr lang="en-US" sz="97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improves retrieval by converting a short vague question into answer-like semantic language.
</a:t>
            </a:r>
            <a:r>
              <a:rPr lang="en-US" sz="975" b="1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compass, not a GPS."
</a:t>
            </a:r>
            <a:r>
              <a:rPr lang="en-US" sz="97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does NOT need to be factually correct — it needs to point the vector in the right direction.
</a:t>
            </a:r>
            <a:r>
              <a:rPr lang="en-US" sz="97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at: </a:t>
            </a:r>
            <a:r>
              <a:rPr lang="en-US" sz="97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time only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11480" y="4560570"/>
            <a:ext cx="80238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runs only at query time. The generated passage is used for vector search and discarded afterward. It never appears in the final answer.</a:t>
            </a:r>
            <a:endParaRPr lang="en-US" sz="9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0030" y="17145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HyQ — Making Chunks Searchable by Questions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71450" y="562356"/>
            <a:ext cx="8503920" cy="274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4" name="Shape 2"/>
          <p:cNvSpPr/>
          <p:nvPr/>
        </p:nvSpPr>
        <p:spPr>
          <a:xfrm>
            <a:off x="205740" y="685800"/>
            <a:ext cx="50063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5417820" y="685800"/>
            <a:ext cx="3360420" cy="3566160"/>
          </a:xfrm>
          <a:prstGeom prst="rect">
            <a:avLst/>
          </a:prstGeom>
          <a:solidFill>
            <a:srgbClr val="E7ED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205740" y="4354830"/>
            <a:ext cx="8572500" cy="617220"/>
          </a:xfrm>
          <a:prstGeom prst="rect">
            <a:avLst/>
          </a:prstGeom>
          <a:solidFill>
            <a:srgbClr val="ECE0BA"/>
          </a:solidFill>
          <a:ln/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377190" y="822960"/>
            <a:ext cx="466344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Example Query: "Was Johnson punished for what he did?"
</a:t>
            </a:r>
            <a:r>
              <a:rPr lang="en-US" sz="112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Without HyQ
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BM25 relies on exact word overlap
• 'punished' doesn't match 'convicted'
• Relevant chunk ranks low — may never reach top 10
</a:t>
            </a:r>
            <a:r>
              <a:rPr lang="en-US" sz="112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With HyQ
</a:t>
            </a: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at ingestion time (3 questions per chunk):
• "What was Johnson convicted of?"
• "What sentence did Johnson receive?"
• "What crime did Johnson commit?"
These questions are stored in OpenSearch alongside the chunk.
BM25 searches them with weight 2x — question matches question.
</a:t>
            </a:r>
            <a:r>
              <a:rPr lang="en-US" sz="975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BM25 score jumps from low to high — surfaces in top 10.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89270" y="925830"/>
            <a:ext cx="294894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2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Why It Works
</a:t>
            </a:r>
            <a:r>
              <a:rPr lang="en-US" sz="97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HyQ improves lexical recall by storing question-shaped metadata alongside every chunk at ingestion.
</a:t>
            </a:r>
            <a:r>
              <a:rPr lang="en-US" sz="97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query-time cost.
HyDE vs HyQ:
</a:t>
            </a:r>
            <a:r>
              <a:rPr lang="en-US" sz="97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fixes the </a:t>
            </a:r>
            <a:r>
              <a:rPr lang="en-US" sz="97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side</a:t>
            </a:r>
            <a:r>
              <a:rPr lang="en-US" sz="97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runtime (KNN).</a:t>
            </a:r>
            <a:endParaRPr lang="en-US" sz="1125" dirty="0"/>
          </a:p>
          <a:p>
            <a:r>
              <a:rPr lang="en-US" sz="97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HyQ fixes the </a:t>
            </a:r>
            <a:endParaRPr lang="en-US" sz="1125" dirty="0"/>
          </a:p>
          <a:p>
            <a:r>
              <a:rPr lang="en-US" sz="975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side</a:t>
            </a:r>
            <a:r>
              <a:rPr lang="en-US" sz="97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ingestion (BM25).</a:t>
            </a:r>
            <a:endParaRPr lang="en-US" sz="1125" dirty="0"/>
          </a:p>
          <a:p>
            <a:endParaRPr lang="en-US" sz="1125" dirty="0"/>
          </a:p>
          <a:p>
            <a:r>
              <a:rPr lang="en-US" sz="97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attack the same retrieval gap from both ends.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11480" y="4560570"/>
            <a:ext cx="80238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improves the query side (semantic/KNN). HyQ improves the document side (BM25). Together they improve recall and answer quality.</a:t>
            </a:r>
            <a:endParaRPr lang="en-US" sz="9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— BM25 + KNN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signals combined via min-max normalization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393192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— Keyword 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35024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user question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 (weight 1.0)
           hyq_questions (weight 2.0)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× IDF with saturation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legal terms
</a:t>
            </a: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"flag desecration", "§42.09", "Texas statute"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87552"/>
            <a:ext cx="3931920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— Vector Search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35024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vector (1536-dim)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field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HNSW graph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(0→1)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meaning even when
</a:t>
            </a:r>
            <a:r>
              <a:rPr lang="en-US" sz="10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"convicted" ≈ "found guilty" ≈ "sentenced"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hyq_questions weight 2.0? </a:t>
            </a: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3 questions per chunk were purpose-built at ingestion to mirror real user queries. A question→question match is a far stronger signal than question→paragraph.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758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Normalization + Final Score Example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3977640"/>
          <a:ext cx="7406640" cy="1005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BM25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 BM25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A — flag desecration §42.09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 ← 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B — protest in Dallas 1984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C — First Amendment rights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HyDE — What If It Hallucinates?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55555"/>
                </a:solidFill>
              </a:rPr>
              <a:t>HyDE only needs directional accuracy — not factual correctness. Wrong facts, right neighborhood = useful KNN search.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8686800" cy="402336"/>
          </a:xfrm>
          <a:prstGeom prst="rect">
            <a:avLst/>
          </a:prstGeom>
          <a:solidFill>
            <a:srgbClr val="D4870A"/>
          </a:solidFill>
          <a:ln w="12700">
            <a:solidFill>
              <a:srgbClr val="D487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115568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⚠️   What If HyDE Hallucinates?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517904"/>
            <a:ext cx="4206240" cy="3246120"/>
          </a:xfrm>
          <a:prstGeom prst="rect">
            <a:avLst/>
          </a:prstGeom>
          <a:solidFill>
            <a:srgbClr val="FFF8EC"/>
          </a:solidFill>
          <a:ln w="12700">
            <a:solidFill>
              <a:srgbClr val="D4870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0560A"/>
                </a:solidFill>
              </a:rPr>
              <a:t>Why hallucination is tolerated: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HyDE only needs directional accuracy — the vector needs to land in roughly the right semantic neighborhood, not be factually correct.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505456"/>
            <a:ext cx="3657600" cy="0"/>
          </a:xfrm>
          <a:prstGeom prst="line">
            <a:avLst/>
          </a:prstGeom>
          <a:noFill/>
          <a:ln w="9525">
            <a:solidFill>
              <a:srgbClr val="E8C97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Example: </a:t>
            </a:r>
            <a:r>
              <a:rPr lang="en-US" sz="1050" dirty="0">
                <a:solidFill>
                  <a:srgbClr val="333333"/>
                </a:solidFill>
              </a:rPr>
              <a:t>Nova says "set fire to a building" instead of "burned a flag" → vector still lands in LEGAL CONVICTION space → retrieves relevant legal chunks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i="1" dirty="0">
                <a:solidFill>
                  <a:srgbClr val="C0560A"/>
                </a:solidFill>
              </a:rPr>
              <a:t>Wrong facts, right neighborhood = useful KNN search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517904"/>
            <a:ext cx="4206240" cy="324612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6093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0392B"/>
                </a:solidFill>
              </a:rPr>
              <a:t>How to detect HyDE hallucination: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19202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• </a:t>
            </a:r>
            <a:r>
              <a:rPr lang="en-US" sz="1050" dirty="0">
                <a:solidFill>
                  <a:srgbClr val="333333"/>
                </a:solidFill>
              </a:rPr>
              <a:t>LangSmith traces HyDE output — inspect what Nova generated
</a:t>
            </a:r>
            <a:r>
              <a:rPr lang="en-US" sz="1050" b="1" dirty="0">
                <a:solidFill>
                  <a:srgbClr val="333333"/>
                </a:solidFill>
              </a:rPr>
              <a:t>• </a:t>
            </a:r>
            <a:r>
              <a:rPr lang="en-US" sz="1050" dirty="0">
                <a:solidFill>
                  <a:srgbClr val="333333"/>
                </a:solidFill>
              </a:rPr>
              <a:t>context_precision score drops (wrong chunks returned)
</a:t>
            </a:r>
            <a:r>
              <a:rPr lang="en-US" sz="1050" b="1" dirty="0">
                <a:solidFill>
                  <a:srgbClr val="333333"/>
                </a:solidFill>
              </a:rPr>
              <a:t>• </a:t>
            </a:r>
            <a:r>
              <a:rPr lang="en-US" sz="1050" dirty="0">
                <a:solidFill>
                  <a:srgbClr val="333333"/>
                </a:solidFill>
              </a:rPr>
              <a:t>answer_correctness drops while faithfulness stays 1.0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834640"/>
            <a:ext cx="3657600" cy="0"/>
          </a:xfrm>
          <a:prstGeom prst="line">
            <a:avLst/>
          </a:prstGeom>
          <a:noFill/>
          <a:ln w="9525">
            <a:solidFill>
              <a:srgbClr val="E8A0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90779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Fallback (implemented): </a:t>
            </a:r>
            <a:r>
              <a:rPr lang="en-US" sz="1050" dirty="0">
                <a:solidFill>
                  <a:srgbClr val="333333"/>
                </a:solidFill>
              </a:rPr>
              <a:t>If HyDE LLM call fails entirely → use raw question as KNN query. This is safe because correctness failure is better than pipeline crash.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4828032"/>
            <a:ext cx="868680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Reranking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OpenSearch scoring isn't good enough on its own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KNN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Embedding Model(Titan) → Vector A
Chunk    → Embedding Model(Titan) → Vector B
</a:t>
            </a: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vectors separately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and chunk NEVER see each other during encoding. Attention is limited within one text at a time.
</a:t>
            </a: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"breach" in Q + "breach" in chunk → high score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chunk is about copyright breach, not contract breach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53312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[Question + Chunk together] → Cross-Encoder → Score
</a:t>
            </a:r>
            <a:r>
              <a:rPr lang="en-US" sz="10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in the question attends to every word in the chunk simultaneously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that chunk is about 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breach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remedies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correctly scores lower
</a:t>
            </a:r>
            <a:r>
              <a:rPr lang="en-US" sz="10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use cross-encoder everywhere?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10,000 chunks = minutes. Solution: OpenSearch finds top 10 fast → Cohere deeply judges those 10.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Reranking Example — Johnson Question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3218688"/>
          <a:ext cx="7772400" cy="17907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Text (truncated)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→ 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 convicted under §42.09(a)(3), flag desecration...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Confirmed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 → #2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 Penal Code venerated objects statute text...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⬆ Promoted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 → #3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Amendment protest rights general overview...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⬇ Demoted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 → #4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 1984 protest, political demonstration context...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 → #5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Supreme Court reversal on First Amendment grounds...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⬆ Promoted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+ Answer Generation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context assembly → grounded answer via Nova Micro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920240" cy="2926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2024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1737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chunks in
Removes same page duplicates
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seen_pages = set()
Keeps first chunk per unique page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2020824"/>
            <a:ext cx="274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51760" y="987552"/>
            <a:ext cx="301752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987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1280160"/>
            <a:ext cx="301752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1316736"/>
            <a:ext cx="28346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Context to Nova
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Cap: </a:t>
            </a: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tokens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(≈8000 chars)
</a:t>
            </a: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count + chunk &gt; 2000: break
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Nova's answer
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Cap: </a:t>
            </a: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max_tokens=512 in get_llm()
</a:t>
            </a: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Bounded cost + latency,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explosion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2020824"/>
            <a:ext cx="2743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987552"/>
            <a:ext cx="274320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987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Micro — Answer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280160"/>
            <a:ext cx="274320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1316736"/>
            <a:ext cx="25603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"Answer using ONLY the
context below. If not found,
say I cannot find this."
</a:t>
            </a: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Nova Micro not Pro?
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over short
context → Micro is sufficient.
~10x cheaper.
</a:t>
            </a:r>
            <a:r>
              <a:rPr lang="en-US" sz="1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answer + sources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8346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input: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tokens cap  (CONTEXT_TOKEN_BUDGET)     </a:t>
            </a: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output: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 cap  (max_tokens in get_llm())     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controlled explicitly in code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Full Answer Response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38728"/>
            <a:ext cx="5212080" cy="15361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584448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
</a:t>
            </a: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"Gregory Johnson was convicted of flag desecration under Texas Penal Code §42.09(a)(3), which prohibited the desecration of venerated objects. His conviction stemmed from burning an American flag during a 1984 political protest in Dallas, Texas."
</a:t>
            </a: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
</a:t>
            </a: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johnson_v_superior_court_1.pdf, page 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johnson_v_superior_court_1.pdf, page 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3538728"/>
            <a:ext cx="288036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3584448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Properties:
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Every claim from chunks
✅ Source + page cited
✅ Faithfulness = 1.00
✅ No invented facts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in context →
</a:t>
            </a: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cannot find this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in the documents"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Observability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"CloudWatch tells me my infra is healthy. LangSmith tells me what my AI did with that time."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023360" cy="3520440"/>
          </a:xfrm>
          <a:prstGeom prst="rect">
            <a:avLst/>
          </a:prstGeom>
          <a:solidFill>
            <a:srgbClr val="E6F4F6"/>
          </a:solidFill>
          <a:ln w="12700">
            <a:solidFill>
              <a:srgbClr val="BEE3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233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40233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354775"/>
            <a:ext cx="402336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Health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 system up and healthy?"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2011680"/>
            <a:ext cx="380390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E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2066544"/>
            <a:ext cx="36210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Invocations — request volume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Errors — error rate trending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p50/p99 — latency percentiles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Throttles — rate limit hits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Depth — ingestion failures queued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4197096"/>
            <a:ext cx="4023360" cy="402336"/>
          </a:xfrm>
          <a:prstGeom prst="rect">
            <a:avLst/>
          </a:prstGeom>
          <a:solidFill>
            <a:srgbClr val="C8E9EE"/>
          </a:solidFill>
          <a:ln w="12700">
            <a:solidFill>
              <a:srgbClr val="BE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19709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widgets rebuilt before demo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078992"/>
            <a:ext cx="4023360" cy="3520440"/>
          </a:xfrm>
          <a:prstGeom prst="rect">
            <a:avLst/>
          </a:prstGeom>
          <a:solidFill>
            <a:srgbClr val="FEF3E8"/>
          </a:solidFill>
          <a:ln w="12700">
            <a:solidFill>
              <a:srgbClr val="F9CFA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1078992"/>
            <a:ext cx="4023360" cy="475488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078992"/>
            <a:ext cx="402336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1354775"/>
            <a:ext cx="4023360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A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 Behavior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6642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43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did each AI step do and how well?"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011680"/>
            <a:ext cx="380390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C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01768" y="2066544"/>
            <a:ext cx="36210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run_hyde: 1.42s (first Bedrock call)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run_answer: 0.63s (reuses connection)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counts per step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at each node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evaluation metrics + scores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4197096"/>
            <a:ext cx="4023360" cy="402336"/>
          </a:xfrm>
          <a:prstGeom prst="rect">
            <a:avLst/>
          </a:prstGeom>
          <a:solidFill>
            <a:srgbClr val="FBDFC4"/>
          </a:solidFill>
          <a:ln w="12700">
            <a:solidFill>
              <a:srgbClr val="F9C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419709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AI-layer observability — unique to LLM apps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CloudWatch alerts you something is wrong  →  LangSmith shows what the AI did inside that service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4" y="106315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1" y="199535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122856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6" y="90098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32839-C45C-295F-BCBA-C71EF2318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075329"/>
            <a:ext cx="2160621" cy="2303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LangSmith – Tracing – Query pipieline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FB917D-6C5B-7A87-C591-319F1DBC2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546282"/>
            <a:ext cx="5419311" cy="405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900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Evaluation Metrics — What They Mean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measurements across retrieval layer, generation layer, and end-to-end quality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7472" y="1024128"/>
            <a:ext cx="26974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2697480" cy="2743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24128"/>
            <a:ext cx="1691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30552" y="1024128"/>
            <a:ext cx="822960" cy="2743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30552" y="1024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325880"/>
            <a:ext cx="2514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Nova hallucinate?
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claim in the answer against the retrieved chunks. If the claim appears in chunks → faithful. If invented → not faithful.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chunks + answer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</a:t>
            </a: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24128"/>
            <a:ext cx="26974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024128"/>
            <a:ext cx="2697480" cy="2743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024128"/>
            <a:ext cx="1691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answer_relevance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1024128"/>
            <a:ext cx="822960" cy="2743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1024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1325880"/>
            <a:ext cx="2514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answer address the question?
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answer is topically on-target. An answer can be relevant but incorrect (right topic, wrong facts) — this metric only checks relevance.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answer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</a:t>
            </a: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53328" y="1024128"/>
            <a:ext cx="269748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53328" y="1024128"/>
            <a:ext cx="269748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53328" y="1024128"/>
            <a:ext cx="1691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answer_correctness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36408" y="1024128"/>
            <a:ext cx="822960" cy="2743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36408" y="1024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44768" y="1325880"/>
            <a:ext cx="2514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answer factually right?
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pipeline answer against hand-written expected answer. Nova judges semantic match — not exact string. Depends entirely on ground truth quality.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answer + expected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</a:t>
            </a: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2990088"/>
            <a:ext cx="4224528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2990088"/>
            <a:ext cx="4224528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2990088"/>
            <a:ext cx="321868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context_precision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0" y="2990088"/>
            <a:ext cx="822960" cy="2743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0" y="2990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" y="3291840"/>
            <a:ext cx="40416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OpenSearch return the right chunks?
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through each chunk individually, Nova judges each one. Score = fraction of chunks that were actually useful for answering the question.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chunks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</a:t>
            </a: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81728" y="2990088"/>
            <a:ext cx="4224528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81728" y="2990088"/>
            <a:ext cx="4224528" cy="27432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81728" y="2990088"/>
            <a:ext cx="321868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91856" y="2990088"/>
            <a:ext cx="822960" cy="27432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91856" y="2990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73168" y="3291840"/>
            <a:ext cx="40416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did the full pipeline take?
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 by evaluators — LangSmith automatically times call_rag_pipeline(). Shows end-to-end wall-clock time including all Bedrock and OpenSearch calls.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(LangSmith)
</a:t>
            </a: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~6.3s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Evaluation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johnson-eval-60622841  ·  Dataset: johnson-v-superior-court-eval  ·  8 Q&amp;A pairs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7472" y="1024128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47472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never hallucinated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96312" y="1024128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6312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496312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answer_relevance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Topically on-target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024128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45152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45152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answer_correctness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5152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Factually correct answers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93992" y="1024128"/>
            <a:ext cx="20116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93992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793992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context_precision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93992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were useful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487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Question Breakdown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57200" y="2788920"/>
          <a:ext cx="7955280" cy="21259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Ctx Precision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response to incompetency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imposed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personally embroiled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Book section 1-17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from four to three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of writ of 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Gregory Johnson convicted of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Barlow reason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I'd Do Next — RAG System Evaluation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55555"/>
                </a:solidFill>
              </a:rPr>
              <a:t>The pipeline is built. Now: which combination of models and techniques produces the best answers?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206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64008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521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090"/>
                </a:solidFill>
              </a:rPr>
              <a:t>🔷  Embedding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Current: </a:t>
            </a:r>
            <a:r>
              <a:rPr lang="en-US" sz="1050" dirty="0">
                <a:solidFill>
                  <a:srgbClr val="333333"/>
                </a:solidFill>
              </a:rPr>
              <a:t>Titan v1 (1536-dim, score-bunched)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Evaluate: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Titan v2 · Cohere Embed v3 · text-embedding-3-large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Impact: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Score spread → threshold recalibration → better chunking splits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206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115568"/>
            <a:ext cx="64008" cy="1417320"/>
          </a:xfrm>
          <a:prstGeom prst="rect">
            <a:avLst/>
          </a:prstGeom>
          <a:solidFill>
            <a:srgbClr val="C0560A"/>
          </a:solidFill>
          <a:ln w="12700">
            <a:solidFill>
              <a:srgbClr val="C05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521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560A"/>
                </a:solidFill>
              </a:rPr>
              <a:t>🔶  Reranking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Current: </a:t>
            </a:r>
            <a:r>
              <a:rPr lang="en-US" sz="1050" dirty="0">
                <a:solidFill>
                  <a:srgbClr val="333333"/>
                </a:solidFill>
              </a:rPr>
              <a:t>Cohere Rerank 3.5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Evaluate: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No reranker · Cohere v2 · Amazon Rerank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Impact: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context_precision and answer_correctness scores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679192"/>
            <a:ext cx="4206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2679192"/>
            <a:ext cx="64008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7157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7D32"/>
                </a:solidFill>
              </a:rPr>
              <a:t>🟢  LLM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02666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Current: </a:t>
            </a:r>
            <a:r>
              <a:rPr lang="en-US" sz="1050" dirty="0">
                <a:solidFill>
                  <a:srgbClr val="333333"/>
                </a:solidFill>
              </a:rPr>
              <a:t>Nova Micro (~10× cheaper than Pro)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Evaluate: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Nova Lite · Nova Pro · Claude Haiku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333333"/>
                </a:solidFill>
              </a:rPr>
              <a:t>Impact: 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answer_correctness and faithfulness scores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679192"/>
            <a:ext cx="4206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679192"/>
            <a:ext cx="64008" cy="1417320"/>
          </a:xfrm>
          <a:prstGeom prst="rect">
            <a:avLst/>
          </a:prstGeom>
          <a:solidFill>
            <a:srgbClr val="5C35A0"/>
          </a:solidFill>
          <a:ln w="12700">
            <a:solidFill>
              <a:srgbClr val="5C35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7157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C35A0"/>
                </a:solidFill>
              </a:rPr>
              <a:t>🔵  Retrieval Ablation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026664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</a:rPr>
              <a:t>With HyDE vs Without HyDE
With HyQ vs Without HyQ
Hybrid vs BM25-only vs KNN-only
</a:t>
            </a:r>
            <a:r>
              <a:rPr lang="en-US" sz="1050" b="1" dirty="0">
                <a:solidFill>
                  <a:srgbClr val="333333"/>
                </a:solidFill>
              </a:rPr>
              <a:t>Impact: </a:t>
            </a:r>
            <a:r>
              <a:rPr lang="en-US" sz="1050" dirty="0">
                <a:solidFill>
                  <a:srgbClr val="333333"/>
                </a:solidFill>
              </a:rPr>
              <a:t>context_precision and answer_correctness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4251960"/>
            <a:ext cx="8686800" cy="658368"/>
          </a:xfrm>
          <a:prstGeom prst="rect">
            <a:avLst/>
          </a:prstGeom>
          <a:solidFill>
            <a:srgbClr val="EEF6F8"/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279392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</a:rPr>
              <a:t>⚡  Already built: </a:t>
            </a:r>
            <a:r>
              <a:rPr lang="en-US" sz="1100" dirty="0">
                <a:solidFill>
                  <a:srgbClr val="333333"/>
                </a:solidFill>
              </a:rPr>
              <a:t>LangSmith evaluation harness (8 Q&amp;A pairs, 4 metrics) is in place. Each experiment = swap model client + re-run </a:t>
            </a:r>
            <a:r>
              <a:rPr lang="en-US" sz="1100" b="1" dirty="0">
                <a:solidFill>
                  <a:srgbClr val="333333"/>
                </a:solidFill>
              </a:rPr>
              <a:t>langsmith_eval.py</a:t>
            </a:r>
            <a:r>
              <a:rPr lang="en-US" sz="1100" dirty="0">
                <a:solidFill>
                  <a:srgbClr val="333333"/>
                </a:solidFill>
              </a:rPr>
              <a:t>. No pipeline changes needed.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2353</TotalTime>
  <Words>5923</Words>
  <Application>Microsoft Office PowerPoint</Application>
  <PresentationFormat>On-screen Show (16:9)</PresentationFormat>
  <Paragraphs>813</Paragraphs>
  <Slides>38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LangGrapha Tracing in LangSmith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LangSmith – Tracing – Query pipieline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Ingestion Pipeline Demo</dc:title>
  <dc:subject>PptxGenJS Presentation</dc:subject>
  <dc:creator>PptxGenJS</dc:creator>
  <cp:lastModifiedBy>Sudheer Cherukuri</cp:lastModifiedBy>
  <cp:revision>69</cp:revision>
  <dcterms:created xsi:type="dcterms:W3CDTF">2026-05-16T02:25:11Z</dcterms:created>
  <dcterms:modified xsi:type="dcterms:W3CDTF">2026-06-04T15:57:55Z</dcterms:modified>
</cp:coreProperties>
</file>